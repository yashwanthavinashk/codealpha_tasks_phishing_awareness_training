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9067800"/>
  <p:notesSz cx="6858000" cy="9144000"/>
  <p:embeddedFontLst>
    <p:embeddedFont>
      <p:font typeface="Fira Sans" panose="020B0503050000020004" pitchFamily="34" charset="0"/>
      <p:regular r:id="rId12"/>
    </p:embeddedFont>
    <p:embeddedFont>
      <p:font typeface="Fira Sans Bold" panose="020B0803050000020004" pitchFamily="34" charset="0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Condensed Bold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2.fntdata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1.fntdata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4.fntdata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3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 /><Relationship Id="rId13" Type="http://schemas.openxmlformats.org/officeDocument/2006/relationships/image" Target="../media/image14.png" /><Relationship Id="rId3" Type="http://schemas.openxmlformats.org/officeDocument/2006/relationships/image" Target="../media/image4.png" /><Relationship Id="rId7" Type="http://schemas.openxmlformats.org/officeDocument/2006/relationships/image" Target="../media/image8.png" /><Relationship Id="rId12" Type="http://schemas.openxmlformats.org/officeDocument/2006/relationships/image" Target="../media/image13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png" /><Relationship Id="rId11" Type="http://schemas.openxmlformats.org/officeDocument/2006/relationships/image" Target="../media/image12.png" /><Relationship Id="rId5" Type="http://schemas.openxmlformats.org/officeDocument/2006/relationships/image" Target="../media/image6.png" /><Relationship Id="rId10" Type="http://schemas.openxmlformats.org/officeDocument/2006/relationships/image" Target="../media/image11.png" /><Relationship Id="rId4" Type="http://schemas.openxmlformats.org/officeDocument/2006/relationships/image" Target="../media/image5.png" /><Relationship Id="rId9" Type="http://schemas.openxmlformats.org/officeDocument/2006/relationships/image" Target="../media/image10.png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8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 /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3.svg" /><Relationship Id="rId5" Type="http://schemas.openxmlformats.org/officeDocument/2006/relationships/image" Target="../media/image22.svg" /><Relationship Id="rId4" Type="http://schemas.openxmlformats.org/officeDocument/2006/relationships/image" Target="../media/image21.sv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 /><Relationship Id="rId2" Type="http://schemas.openxmlformats.org/officeDocument/2006/relationships/image" Target="../media/image25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7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 /><Relationship Id="rId2" Type="http://schemas.openxmlformats.org/officeDocument/2006/relationships/image" Target="../media/image28.sv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68080" y="1973258"/>
            <a:ext cx="3418000" cy="5134390"/>
            <a:chOff x="0" y="0"/>
            <a:chExt cx="5715000" cy="8584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4819"/>
            </a:xfrm>
            <a:custGeom>
              <a:avLst/>
              <a:gdLst/>
              <a:ahLst/>
              <a:cxnLst/>
              <a:rect l="l" t="t" r="r" b="b"/>
              <a:pathLst>
                <a:path w="5715000" h="8584819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t="-3" r="-4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36572" y="5343573"/>
            <a:ext cx="3717922" cy="469897"/>
            <a:chOff x="0" y="0"/>
            <a:chExt cx="3717925" cy="469900"/>
          </a:xfrm>
        </p:grpSpPr>
        <p:sp>
          <p:nvSpPr>
            <p:cNvPr id="5" name="Freeform 5"/>
            <p:cNvSpPr/>
            <p:nvPr/>
          </p:nvSpPr>
          <p:spPr>
            <a:xfrm>
              <a:off x="63500" y="73025"/>
              <a:ext cx="1952625" cy="323850"/>
            </a:xfrm>
            <a:custGeom>
              <a:avLst/>
              <a:gdLst/>
              <a:ahLst/>
              <a:cxnLst/>
              <a:rect l="l" t="t" r="r" b="b"/>
              <a:pathLst>
                <a:path w="1952625" h="323850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4953" y="4953"/>
                  </a:cubicBezTo>
                  <a:cubicBezTo>
                    <a:pt x="6477" y="3302"/>
                    <a:pt x="8382" y="2159"/>
                    <a:pt x="10541" y="1270"/>
                  </a:cubicBezTo>
                  <a:cubicBezTo>
                    <a:pt x="12700" y="381"/>
                    <a:pt x="14859" y="0"/>
                    <a:pt x="17145" y="0"/>
                  </a:cubicBezTo>
                  <a:lnTo>
                    <a:pt x="1935480" y="0"/>
                  </a:lnTo>
                  <a:cubicBezTo>
                    <a:pt x="1937766" y="0"/>
                    <a:pt x="1939925" y="381"/>
                    <a:pt x="1942084" y="1270"/>
                  </a:cubicBezTo>
                  <a:cubicBezTo>
                    <a:pt x="1944243" y="2159"/>
                    <a:pt x="1946021" y="3429"/>
                    <a:pt x="1947672" y="4953"/>
                  </a:cubicBezTo>
                  <a:cubicBezTo>
                    <a:pt x="1949323" y="6477"/>
                    <a:pt x="1950466" y="8382"/>
                    <a:pt x="1951355" y="10541"/>
                  </a:cubicBezTo>
                  <a:cubicBezTo>
                    <a:pt x="1952244" y="12700"/>
                    <a:pt x="1952625" y="14859"/>
                    <a:pt x="1952625" y="17145"/>
                  </a:cubicBezTo>
                  <a:lnTo>
                    <a:pt x="1952625" y="306705"/>
                  </a:lnTo>
                  <a:cubicBezTo>
                    <a:pt x="1952625" y="308991"/>
                    <a:pt x="1952244" y="311150"/>
                    <a:pt x="1951355" y="313309"/>
                  </a:cubicBezTo>
                  <a:cubicBezTo>
                    <a:pt x="1950466" y="315468"/>
                    <a:pt x="1949196" y="317246"/>
                    <a:pt x="1947672" y="318897"/>
                  </a:cubicBezTo>
                  <a:cubicBezTo>
                    <a:pt x="1946148" y="320548"/>
                    <a:pt x="1944243" y="321818"/>
                    <a:pt x="1942084" y="322580"/>
                  </a:cubicBezTo>
                  <a:cubicBezTo>
                    <a:pt x="1939925" y="323342"/>
                    <a:pt x="1937766" y="323850"/>
                    <a:pt x="1935480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4953" y="318897"/>
                  </a:cubicBezTo>
                  <a:cubicBezTo>
                    <a:pt x="3302" y="317373"/>
                    <a:pt x="2159" y="315468"/>
                    <a:pt x="1270" y="313309"/>
                  </a:cubicBezTo>
                  <a:cubicBezTo>
                    <a:pt x="381" y="311150"/>
                    <a:pt x="0" y="308991"/>
                    <a:pt x="0" y="306705"/>
                  </a:cubicBezTo>
                </a:path>
              </a:pathLst>
            </a:custGeom>
            <a:solidFill>
              <a:srgbClr val="4A022B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101850" y="63500"/>
              <a:ext cx="1552448" cy="342900"/>
            </a:xfrm>
            <a:custGeom>
              <a:avLst/>
              <a:gdLst/>
              <a:ahLst/>
              <a:cxnLst/>
              <a:rect l="l" t="t" r="r" b="b"/>
              <a:pathLst>
                <a:path w="1552448" h="342900">
                  <a:moveTo>
                    <a:pt x="0" y="325755"/>
                  </a:moveTo>
                  <a:lnTo>
                    <a:pt x="0" y="17145"/>
                  </a:lnTo>
                  <a:lnTo>
                    <a:pt x="4826" y="17145"/>
                  </a:lnTo>
                  <a:lnTo>
                    <a:pt x="0" y="17145"/>
                  </a:lnTo>
                  <a:cubicBezTo>
                    <a:pt x="0" y="12446"/>
                    <a:pt x="1651" y="8382"/>
                    <a:pt x="5080" y="5080"/>
                  </a:cubicBezTo>
                  <a:lnTo>
                    <a:pt x="8382" y="8509"/>
                  </a:lnTo>
                  <a:lnTo>
                    <a:pt x="4953" y="5207"/>
                  </a:lnTo>
                  <a:cubicBezTo>
                    <a:pt x="8255" y="1905"/>
                    <a:pt x="12446" y="127"/>
                    <a:pt x="17018" y="127"/>
                  </a:cubicBezTo>
                  <a:lnTo>
                    <a:pt x="17018" y="4953"/>
                  </a:lnTo>
                  <a:lnTo>
                    <a:pt x="17018" y="0"/>
                  </a:lnTo>
                  <a:lnTo>
                    <a:pt x="1535430" y="0"/>
                  </a:lnTo>
                  <a:lnTo>
                    <a:pt x="1535430" y="4826"/>
                  </a:lnTo>
                  <a:lnTo>
                    <a:pt x="1535430" y="0"/>
                  </a:lnTo>
                  <a:cubicBezTo>
                    <a:pt x="1540129" y="0"/>
                    <a:pt x="1544193" y="1651"/>
                    <a:pt x="1547495" y="5080"/>
                  </a:cubicBezTo>
                  <a:lnTo>
                    <a:pt x="1544066" y="8382"/>
                  </a:lnTo>
                  <a:lnTo>
                    <a:pt x="1547368" y="4953"/>
                  </a:lnTo>
                  <a:cubicBezTo>
                    <a:pt x="1550670" y="8255"/>
                    <a:pt x="1552448" y="12446"/>
                    <a:pt x="1552448" y="17018"/>
                  </a:cubicBezTo>
                  <a:lnTo>
                    <a:pt x="1547622" y="17018"/>
                  </a:lnTo>
                  <a:lnTo>
                    <a:pt x="1552448" y="17018"/>
                  </a:lnTo>
                  <a:lnTo>
                    <a:pt x="1552448" y="325628"/>
                  </a:lnTo>
                  <a:lnTo>
                    <a:pt x="1547622" y="325628"/>
                  </a:lnTo>
                  <a:lnTo>
                    <a:pt x="1552448" y="325628"/>
                  </a:lnTo>
                  <a:cubicBezTo>
                    <a:pt x="1552448" y="330327"/>
                    <a:pt x="1550797" y="334391"/>
                    <a:pt x="1547368" y="337820"/>
                  </a:cubicBezTo>
                  <a:lnTo>
                    <a:pt x="1543939" y="334391"/>
                  </a:lnTo>
                  <a:lnTo>
                    <a:pt x="1547368" y="337820"/>
                  </a:lnTo>
                  <a:cubicBezTo>
                    <a:pt x="1544066" y="341122"/>
                    <a:pt x="1539875" y="342773"/>
                    <a:pt x="1535303" y="342773"/>
                  </a:cubicBezTo>
                  <a:lnTo>
                    <a:pt x="1535303" y="337947"/>
                  </a:lnTo>
                  <a:lnTo>
                    <a:pt x="1535303" y="342900"/>
                  </a:lnTo>
                  <a:lnTo>
                    <a:pt x="17145" y="342900"/>
                  </a:lnTo>
                  <a:lnTo>
                    <a:pt x="17145" y="338074"/>
                  </a:lnTo>
                  <a:lnTo>
                    <a:pt x="17145" y="342900"/>
                  </a:lnTo>
                  <a:cubicBezTo>
                    <a:pt x="12446" y="342900"/>
                    <a:pt x="8382" y="341249"/>
                    <a:pt x="5080" y="337820"/>
                  </a:cubicBezTo>
                  <a:lnTo>
                    <a:pt x="8509" y="334518"/>
                  </a:lnTo>
                  <a:lnTo>
                    <a:pt x="5207" y="337947"/>
                  </a:lnTo>
                  <a:cubicBezTo>
                    <a:pt x="1905" y="334645"/>
                    <a:pt x="127" y="330454"/>
                    <a:pt x="127" y="325882"/>
                  </a:cubicBezTo>
                  <a:lnTo>
                    <a:pt x="4953" y="325882"/>
                  </a:lnTo>
                  <a:lnTo>
                    <a:pt x="127" y="325882"/>
                  </a:lnTo>
                  <a:moveTo>
                    <a:pt x="9652" y="325882"/>
                  </a:moveTo>
                  <a:cubicBezTo>
                    <a:pt x="9652" y="328041"/>
                    <a:pt x="10414" y="329692"/>
                    <a:pt x="11938" y="331216"/>
                  </a:cubicBezTo>
                  <a:cubicBezTo>
                    <a:pt x="13462" y="332740"/>
                    <a:pt x="15113" y="333502"/>
                    <a:pt x="17272" y="333502"/>
                  </a:cubicBezTo>
                  <a:lnTo>
                    <a:pt x="1535430" y="333502"/>
                  </a:lnTo>
                  <a:cubicBezTo>
                    <a:pt x="1537589" y="333502"/>
                    <a:pt x="1539240" y="332740"/>
                    <a:pt x="1540764" y="331216"/>
                  </a:cubicBezTo>
                  <a:cubicBezTo>
                    <a:pt x="1542288" y="329692"/>
                    <a:pt x="1543050" y="327914"/>
                    <a:pt x="1543050" y="325882"/>
                  </a:cubicBezTo>
                  <a:lnTo>
                    <a:pt x="1543050" y="17145"/>
                  </a:lnTo>
                  <a:cubicBezTo>
                    <a:pt x="1543050" y="14986"/>
                    <a:pt x="1542288" y="13335"/>
                    <a:pt x="1540764" y="11811"/>
                  </a:cubicBezTo>
                  <a:cubicBezTo>
                    <a:pt x="1539240" y="10287"/>
                    <a:pt x="1537589" y="9525"/>
                    <a:pt x="1535430" y="9525"/>
                  </a:cubicBezTo>
                  <a:lnTo>
                    <a:pt x="17145" y="9525"/>
                  </a:lnTo>
                  <a:cubicBezTo>
                    <a:pt x="14986" y="9525"/>
                    <a:pt x="13335" y="10287"/>
                    <a:pt x="11811" y="11811"/>
                  </a:cubicBezTo>
                  <a:cubicBezTo>
                    <a:pt x="10287" y="13335"/>
                    <a:pt x="9525" y="14986"/>
                    <a:pt x="9525" y="17145"/>
                  </a:cubicBezTo>
                  <a:lnTo>
                    <a:pt x="9525" y="325755"/>
                  </a:lnTo>
                  <a:close/>
                </a:path>
              </a:pathLst>
            </a:custGeom>
            <a:solidFill>
              <a:srgbClr val="F94CA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600075" y="3418703"/>
            <a:ext cx="5465112" cy="106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sz="3375" b="1" spc="6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The Phishing Trap: Don't Take the Bait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6013" y="4680661"/>
            <a:ext cx="4633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4680661"/>
            <a:ext cx="5835453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Everyyear,millionsfall victimtophishingattacks.This modulewillequip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075" y="4956886"/>
            <a:ext cx="4841881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youwiththeknowledge torecognize,resist,andreport them.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2916" y="5471741"/>
            <a:ext cx="1781823" cy="19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CYBERSECURITY AWARENESS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50791" y="5471741"/>
            <a:ext cx="1358322" cy="19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>
                <a:solidFill>
                  <a:srgbClr val="F94CAF"/>
                </a:solidFill>
                <a:latin typeface="Fira Sans"/>
                <a:ea typeface="Fira Sans"/>
                <a:cs typeface="Fira Sans"/>
                <a:sym typeface="Fira Sans"/>
              </a:rPr>
              <a:t>INTERACTIVE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3450" y="1847988"/>
            <a:ext cx="3467100" cy="5208147"/>
            <a:chOff x="0" y="0"/>
            <a:chExt cx="5715000" cy="8584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4819"/>
            </a:xfrm>
            <a:custGeom>
              <a:avLst/>
              <a:gdLst/>
              <a:ahLst/>
              <a:cxnLst/>
              <a:rect l="l" t="t" r="r" b="b"/>
              <a:pathLst>
                <a:path w="5715000" h="8584819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t="-3" r="-4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86325" y="3587801"/>
            <a:ext cx="2886075" cy="1533525"/>
            <a:chOff x="0" y="0"/>
            <a:chExt cx="2886075" cy="15335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86075" cy="1533525"/>
            </a:xfrm>
            <a:custGeom>
              <a:avLst/>
              <a:gdLst/>
              <a:ahLst/>
              <a:cxnLst/>
              <a:rect l="l" t="t" r="r" b="b"/>
              <a:pathLst>
                <a:path w="2886075" h="1533525">
                  <a:moveTo>
                    <a:pt x="0" y="1512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2864612" y="0"/>
                  </a:lnTo>
                  <a:cubicBezTo>
                    <a:pt x="2867406" y="0"/>
                    <a:pt x="2870200" y="508"/>
                    <a:pt x="2872867" y="1651"/>
                  </a:cubicBezTo>
                  <a:cubicBezTo>
                    <a:pt x="2875534" y="2794"/>
                    <a:pt x="2877820" y="4318"/>
                    <a:pt x="2879852" y="6350"/>
                  </a:cubicBezTo>
                  <a:cubicBezTo>
                    <a:pt x="2881884" y="8382"/>
                    <a:pt x="2883408" y="10668"/>
                    <a:pt x="2884424" y="13335"/>
                  </a:cubicBezTo>
                  <a:cubicBezTo>
                    <a:pt x="2885440" y="16002"/>
                    <a:pt x="2886075" y="18669"/>
                    <a:pt x="2886075" y="21590"/>
                  </a:cubicBezTo>
                  <a:lnTo>
                    <a:pt x="2886075" y="1512062"/>
                  </a:lnTo>
                  <a:cubicBezTo>
                    <a:pt x="2886075" y="1514856"/>
                    <a:pt x="2885567" y="1517650"/>
                    <a:pt x="2884424" y="1520190"/>
                  </a:cubicBezTo>
                  <a:cubicBezTo>
                    <a:pt x="2883281" y="1522730"/>
                    <a:pt x="2881757" y="1525143"/>
                    <a:pt x="2879852" y="1527175"/>
                  </a:cubicBezTo>
                  <a:cubicBezTo>
                    <a:pt x="2877947" y="1529207"/>
                    <a:pt x="2875534" y="1530731"/>
                    <a:pt x="2872867" y="1531874"/>
                  </a:cubicBezTo>
                  <a:cubicBezTo>
                    <a:pt x="2870200" y="1533017"/>
                    <a:pt x="2867533" y="1533525"/>
                    <a:pt x="2864612" y="1533525"/>
                  </a:cubicBezTo>
                  <a:lnTo>
                    <a:pt x="21463" y="1533525"/>
                  </a:lnTo>
                  <a:cubicBezTo>
                    <a:pt x="18669" y="1533525"/>
                    <a:pt x="15875" y="1533017"/>
                    <a:pt x="13208" y="1531874"/>
                  </a:cubicBezTo>
                  <a:cubicBezTo>
                    <a:pt x="10541" y="1530731"/>
                    <a:pt x="8255" y="1529207"/>
                    <a:pt x="6223" y="1527175"/>
                  </a:cubicBezTo>
                  <a:cubicBezTo>
                    <a:pt x="4191" y="1525143"/>
                    <a:pt x="2667" y="1522857"/>
                    <a:pt x="1651" y="1520190"/>
                  </a:cubicBezTo>
                  <a:cubicBezTo>
                    <a:pt x="635" y="1517523"/>
                    <a:pt x="0" y="1514856"/>
                    <a:pt x="0" y="1512062"/>
                  </a:cubicBezTo>
                </a:path>
              </a:pathLst>
            </a:custGeom>
            <a:solidFill>
              <a:srgbClr val="43355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886325" y="5292776"/>
            <a:ext cx="5943600" cy="990600"/>
            <a:chOff x="0" y="0"/>
            <a:chExt cx="5943600" cy="990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43727" cy="990600"/>
            </a:xfrm>
            <a:custGeom>
              <a:avLst/>
              <a:gdLst/>
              <a:ahLst/>
              <a:cxnLst/>
              <a:rect l="l" t="t" r="r" b="b"/>
              <a:pathLst>
                <a:path w="5943727" h="990600">
                  <a:moveTo>
                    <a:pt x="0" y="969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9" y="8382"/>
                    <a:pt x="5940933" y="10668"/>
                    <a:pt x="5942076" y="13335"/>
                  </a:cubicBezTo>
                  <a:cubicBezTo>
                    <a:pt x="5943219" y="16002"/>
                    <a:pt x="5943727" y="18669"/>
                    <a:pt x="5943727" y="21590"/>
                  </a:cubicBezTo>
                  <a:lnTo>
                    <a:pt x="5943727" y="969137"/>
                  </a:lnTo>
                  <a:cubicBezTo>
                    <a:pt x="5943727" y="971931"/>
                    <a:pt x="5943219" y="974725"/>
                    <a:pt x="5942076" y="977265"/>
                  </a:cubicBezTo>
                  <a:cubicBezTo>
                    <a:pt x="5940933" y="979805"/>
                    <a:pt x="5939409" y="982218"/>
                    <a:pt x="5937377" y="984250"/>
                  </a:cubicBezTo>
                  <a:cubicBezTo>
                    <a:pt x="5935345" y="986282"/>
                    <a:pt x="5933059" y="987806"/>
                    <a:pt x="5930392" y="988949"/>
                  </a:cubicBezTo>
                  <a:cubicBezTo>
                    <a:pt x="5927725" y="990092"/>
                    <a:pt x="5925058" y="990600"/>
                    <a:pt x="5922137" y="990600"/>
                  </a:cubicBezTo>
                  <a:lnTo>
                    <a:pt x="21463" y="990600"/>
                  </a:lnTo>
                  <a:cubicBezTo>
                    <a:pt x="18669" y="990600"/>
                    <a:pt x="15875" y="990092"/>
                    <a:pt x="13208" y="988949"/>
                  </a:cubicBezTo>
                  <a:cubicBezTo>
                    <a:pt x="10541" y="987806"/>
                    <a:pt x="8255" y="986282"/>
                    <a:pt x="6223" y="984250"/>
                  </a:cubicBezTo>
                  <a:cubicBezTo>
                    <a:pt x="4191" y="982218"/>
                    <a:pt x="2667" y="979932"/>
                    <a:pt x="1651" y="977265"/>
                  </a:cubicBezTo>
                  <a:cubicBezTo>
                    <a:pt x="635" y="974598"/>
                    <a:pt x="0" y="972058"/>
                    <a:pt x="0" y="969137"/>
                  </a:cubicBezTo>
                </a:path>
              </a:pathLst>
            </a:custGeom>
            <a:solidFill>
              <a:srgbClr val="43355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943850" y="3587801"/>
            <a:ext cx="2886075" cy="1533525"/>
            <a:chOff x="0" y="0"/>
            <a:chExt cx="2886075" cy="15335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86202" cy="1533525"/>
            </a:xfrm>
            <a:custGeom>
              <a:avLst/>
              <a:gdLst/>
              <a:ahLst/>
              <a:cxnLst/>
              <a:rect l="l" t="t" r="r" b="b"/>
              <a:pathLst>
                <a:path w="2886202" h="1533525">
                  <a:moveTo>
                    <a:pt x="0" y="1512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2864612" y="0"/>
                  </a:lnTo>
                  <a:cubicBezTo>
                    <a:pt x="2867406" y="0"/>
                    <a:pt x="2870200" y="508"/>
                    <a:pt x="2872867" y="1651"/>
                  </a:cubicBezTo>
                  <a:cubicBezTo>
                    <a:pt x="2875534" y="2794"/>
                    <a:pt x="2877820" y="4318"/>
                    <a:pt x="2879852" y="6350"/>
                  </a:cubicBezTo>
                  <a:cubicBezTo>
                    <a:pt x="2881884" y="8382"/>
                    <a:pt x="2883408" y="10668"/>
                    <a:pt x="2884551" y="13335"/>
                  </a:cubicBezTo>
                  <a:cubicBezTo>
                    <a:pt x="2885694" y="16002"/>
                    <a:pt x="2886202" y="18669"/>
                    <a:pt x="2886202" y="21590"/>
                  </a:cubicBezTo>
                  <a:lnTo>
                    <a:pt x="2886202" y="1512062"/>
                  </a:lnTo>
                  <a:cubicBezTo>
                    <a:pt x="2886202" y="1514856"/>
                    <a:pt x="2885694" y="1517650"/>
                    <a:pt x="2884551" y="1520190"/>
                  </a:cubicBezTo>
                  <a:cubicBezTo>
                    <a:pt x="2883408" y="1522730"/>
                    <a:pt x="2881884" y="1525143"/>
                    <a:pt x="2879852" y="1527175"/>
                  </a:cubicBezTo>
                  <a:cubicBezTo>
                    <a:pt x="2877820" y="1529207"/>
                    <a:pt x="2875534" y="1530731"/>
                    <a:pt x="2872867" y="1531874"/>
                  </a:cubicBezTo>
                  <a:cubicBezTo>
                    <a:pt x="2870200" y="1533017"/>
                    <a:pt x="2867533" y="1533525"/>
                    <a:pt x="2864612" y="1533525"/>
                  </a:cubicBezTo>
                  <a:lnTo>
                    <a:pt x="21463" y="1533525"/>
                  </a:lnTo>
                  <a:cubicBezTo>
                    <a:pt x="18669" y="1533525"/>
                    <a:pt x="15875" y="1533017"/>
                    <a:pt x="13208" y="1531874"/>
                  </a:cubicBezTo>
                  <a:cubicBezTo>
                    <a:pt x="10541" y="1530731"/>
                    <a:pt x="8255" y="1529207"/>
                    <a:pt x="6223" y="1527175"/>
                  </a:cubicBezTo>
                  <a:cubicBezTo>
                    <a:pt x="4191" y="1525143"/>
                    <a:pt x="2667" y="1522857"/>
                    <a:pt x="1651" y="1520190"/>
                  </a:cubicBezTo>
                  <a:cubicBezTo>
                    <a:pt x="635" y="1517523"/>
                    <a:pt x="0" y="1514856"/>
                    <a:pt x="0" y="1512062"/>
                  </a:cubicBezTo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4886325" y="2837678"/>
            <a:ext cx="5246370" cy="56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1" spc="6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Understanding the Threat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0" y="3779472"/>
            <a:ext cx="109299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57775" y="5484447"/>
            <a:ext cx="1639491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The High Stakes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0422" y="5852236"/>
            <a:ext cx="4633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57775" y="3779472"/>
            <a:ext cx="1858089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What</a:t>
            </a:r>
            <a:r>
              <a:rPr lang="en-US" sz="1687" b="1" spc="3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is</a:t>
            </a:r>
            <a:r>
              <a:rPr lang="en-US" sz="1687" b="1" spc="3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Phishing?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87973" y="4147261"/>
            <a:ext cx="4633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15300" y="3779472"/>
            <a:ext cx="1530191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Attack</a:t>
            </a:r>
            <a:r>
              <a:rPr lang="en-US" sz="1687" b="1" spc="3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Vectors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19609" y="4147261"/>
            <a:ext cx="4633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57775" y="4118686"/>
            <a:ext cx="2465975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Impersonatingtrusted entities to steal credentials or install malware.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15300" y="4147261"/>
            <a:ext cx="2430285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Beyond email:</a:t>
            </a:r>
            <a:r>
              <a:rPr lang="en-US" sz="1350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Smishing</a:t>
            </a: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(SMS)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15300" y="4394911"/>
            <a:ext cx="2252529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and </a:t>
            </a:r>
            <a:r>
              <a:rPr lang="en-US" sz="1350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Vishing</a:t>
            </a: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(voice calls) are equally dangerous.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57775" y="5852236"/>
            <a:ext cx="5582136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Identitytheft,financial loss, and compromised organizational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15391"/>
            <a:ext cx="11430000" cy="7850124"/>
            <a:chOff x="0" y="0"/>
            <a:chExt cx="63500000" cy="436033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0" cy="43603326"/>
            </a:xfrm>
            <a:custGeom>
              <a:avLst/>
              <a:gdLst/>
              <a:ahLst/>
              <a:cxnLst/>
              <a:rect l="l" t="t" r="r" b="b"/>
              <a:pathLst>
                <a:path w="63500000" h="43603326">
                  <a:moveTo>
                    <a:pt x="63500000" y="0"/>
                  </a:moveTo>
                  <a:lnTo>
                    <a:pt x="63500000" y="43603326"/>
                  </a:lnTo>
                  <a:lnTo>
                    <a:pt x="0" y="43603326"/>
                  </a:lnTo>
                  <a:lnTo>
                    <a:pt x="0" y="0"/>
                  </a:lnTo>
                  <a:lnTo>
                    <a:pt x="635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572" y="619963"/>
            <a:ext cx="11420856" cy="7840980"/>
            <a:chOff x="26458" y="26458"/>
            <a:chExt cx="63447079" cy="43550421"/>
          </a:xfrm>
        </p:grpSpPr>
        <p:sp>
          <p:nvSpPr>
            <p:cNvPr id="5" name="Freeform 5"/>
            <p:cNvSpPr/>
            <p:nvPr/>
          </p:nvSpPr>
          <p:spPr>
            <a:xfrm>
              <a:off x="-4" y="-4"/>
              <a:ext cx="63447083" cy="43550425"/>
            </a:xfrm>
            <a:custGeom>
              <a:avLst/>
              <a:gdLst/>
              <a:ahLst/>
              <a:cxnLst/>
              <a:rect l="l" t="t" r="r" b="b"/>
              <a:pathLst>
                <a:path w="63447083" h="43550425">
                  <a:moveTo>
                    <a:pt x="63447083" y="0"/>
                  </a:moveTo>
                  <a:lnTo>
                    <a:pt x="63447083" y="43550425"/>
                  </a:lnTo>
                  <a:lnTo>
                    <a:pt x="0" y="43550425"/>
                  </a:lnTo>
                  <a:lnTo>
                    <a:pt x="0" y="0"/>
                  </a:lnTo>
                  <a:lnTo>
                    <a:pt x="63447083" y="0"/>
                  </a:lnTo>
                  <a:close/>
                </a:path>
              </a:pathLst>
            </a:custGeom>
            <a:solidFill>
              <a:srgbClr val="110C1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615391"/>
            <a:ext cx="11430000" cy="7850124"/>
            <a:chOff x="0" y="0"/>
            <a:chExt cx="63500000" cy="436033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0" cy="43603326"/>
            </a:xfrm>
            <a:custGeom>
              <a:avLst/>
              <a:gdLst/>
              <a:ahLst/>
              <a:cxnLst/>
              <a:rect l="l" t="t" r="r" b="b"/>
              <a:pathLst>
                <a:path w="63500000" h="43603326">
                  <a:moveTo>
                    <a:pt x="63500000" y="0"/>
                  </a:moveTo>
                  <a:lnTo>
                    <a:pt x="63500000" y="43603326"/>
                  </a:lnTo>
                  <a:lnTo>
                    <a:pt x="0" y="43603326"/>
                  </a:lnTo>
                  <a:lnTo>
                    <a:pt x="0" y="0"/>
                  </a:lnTo>
                  <a:lnTo>
                    <a:pt x="63500000" y="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99884" y="2072907"/>
            <a:ext cx="6505956" cy="3687318"/>
            <a:chOff x="0" y="0"/>
            <a:chExt cx="8674608" cy="4916424"/>
          </a:xfrm>
        </p:grpSpPr>
        <p:sp>
          <p:nvSpPr>
            <p:cNvPr id="9" name="Freeform 9"/>
            <p:cNvSpPr/>
            <p:nvPr/>
          </p:nvSpPr>
          <p:spPr>
            <a:xfrm>
              <a:off x="254" y="762"/>
              <a:ext cx="8674100" cy="4914900"/>
            </a:xfrm>
            <a:custGeom>
              <a:avLst/>
              <a:gdLst/>
              <a:ahLst/>
              <a:cxnLst/>
              <a:rect l="l" t="t" r="r" b="b"/>
              <a:pathLst>
                <a:path w="8674100" h="4914900">
                  <a:moveTo>
                    <a:pt x="0" y="4886312"/>
                  </a:moveTo>
                  <a:lnTo>
                    <a:pt x="0" y="28562"/>
                  </a:lnTo>
                  <a:cubicBezTo>
                    <a:pt x="0" y="20676"/>
                    <a:pt x="2794" y="13957"/>
                    <a:pt x="8369" y="8369"/>
                  </a:cubicBezTo>
                  <a:cubicBezTo>
                    <a:pt x="13945" y="2794"/>
                    <a:pt x="20688" y="0"/>
                    <a:pt x="28575" y="0"/>
                  </a:cubicBezTo>
                  <a:lnTo>
                    <a:pt x="8645538" y="0"/>
                  </a:lnTo>
                  <a:cubicBezTo>
                    <a:pt x="8653425" y="0"/>
                    <a:pt x="8660143" y="2794"/>
                    <a:pt x="8665731" y="8369"/>
                  </a:cubicBezTo>
                  <a:cubicBezTo>
                    <a:pt x="8671306" y="13957"/>
                    <a:pt x="8674100" y="20676"/>
                    <a:pt x="8674100" y="28562"/>
                  </a:cubicBezTo>
                  <a:lnTo>
                    <a:pt x="8674100" y="4886312"/>
                  </a:lnTo>
                  <a:cubicBezTo>
                    <a:pt x="8674100" y="4894224"/>
                    <a:pt x="8671306" y="4900943"/>
                    <a:pt x="8665731" y="4906531"/>
                  </a:cubicBezTo>
                  <a:cubicBezTo>
                    <a:pt x="8660143" y="4912106"/>
                    <a:pt x="8653425" y="4914900"/>
                    <a:pt x="8645538" y="4914900"/>
                  </a:cubicBezTo>
                  <a:lnTo>
                    <a:pt x="28575" y="4914900"/>
                  </a:lnTo>
                  <a:cubicBezTo>
                    <a:pt x="20688" y="4914900"/>
                    <a:pt x="13945" y="4912106"/>
                    <a:pt x="8369" y="4906531"/>
                  </a:cubicBezTo>
                  <a:cubicBezTo>
                    <a:pt x="2794" y="4900943"/>
                    <a:pt x="0" y="4894224"/>
                    <a:pt x="0" y="4886312"/>
                  </a:cubicBezTo>
                  <a:close/>
                </a:path>
              </a:pathLst>
            </a:custGeom>
            <a:blipFill>
              <a:blip r:embed="rId2"/>
              <a:stretch>
                <a:fillRect l="-2" t="-15" r="-2" b="-1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99504" y="6150178"/>
            <a:ext cx="3287268" cy="1828800"/>
            <a:chOff x="3333750" y="30744583"/>
            <a:chExt cx="18256250" cy="10160000"/>
          </a:xfrm>
        </p:grpSpPr>
        <p:sp>
          <p:nvSpPr>
            <p:cNvPr id="11" name="Freeform 11"/>
            <p:cNvSpPr/>
            <p:nvPr/>
          </p:nvSpPr>
          <p:spPr>
            <a:xfrm>
              <a:off x="0" y="-4"/>
              <a:ext cx="18256250" cy="10160000"/>
            </a:xfrm>
            <a:custGeom>
              <a:avLst/>
              <a:gdLst/>
              <a:ahLst/>
              <a:cxnLst/>
              <a:rect l="l" t="t" r="r" b="b"/>
              <a:pathLst>
                <a:path w="18256250" h="10160000">
                  <a:moveTo>
                    <a:pt x="0" y="9789592"/>
                  </a:moveTo>
                  <a:lnTo>
                    <a:pt x="0" y="370421"/>
                  </a:lnTo>
                  <a:cubicBezTo>
                    <a:pt x="0" y="346075"/>
                    <a:pt x="2705" y="322021"/>
                    <a:pt x="8128" y="298171"/>
                  </a:cubicBezTo>
                  <a:cubicBezTo>
                    <a:pt x="13564" y="274256"/>
                    <a:pt x="21577" y="251116"/>
                    <a:pt x="32220" y="228677"/>
                  </a:cubicBezTo>
                  <a:cubicBezTo>
                    <a:pt x="42850" y="206170"/>
                    <a:pt x="55893" y="184860"/>
                    <a:pt x="71349" y="164604"/>
                  </a:cubicBezTo>
                  <a:cubicBezTo>
                    <a:pt x="86792" y="144360"/>
                    <a:pt x="104343" y="125667"/>
                    <a:pt x="123990" y="108446"/>
                  </a:cubicBezTo>
                  <a:cubicBezTo>
                    <a:pt x="143650" y="91300"/>
                    <a:pt x="165036" y="75921"/>
                    <a:pt x="188125" y="62446"/>
                  </a:cubicBezTo>
                  <a:cubicBezTo>
                    <a:pt x="211252" y="48896"/>
                    <a:pt x="235636" y="37542"/>
                    <a:pt x="261328" y="28231"/>
                  </a:cubicBezTo>
                  <a:cubicBezTo>
                    <a:pt x="287020" y="18910"/>
                    <a:pt x="313474" y="11863"/>
                    <a:pt x="340728" y="7125"/>
                  </a:cubicBezTo>
                  <a:cubicBezTo>
                    <a:pt x="368021" y="2400"/>
                    <a:pt x="395529" y="0"/>
                    <a:pt x="423329" y="0"/>
                  </a:cubicBezTo>
                  <a:lnTo>
                    <a:pt x="18190133" y="0"/>
                  </a:lnTo>
                  <a:cubicBezTo>
                    <a:pt x="18208346" y="0"/>
                    <a:pt x="18223942" y="6427"/>
                    <a:pt x="18236845" y="19406"/>
                  </a:cubicBezTo>
                  <a:cubicBezTo>
                    <a:pt x="18249824" y="32246"/>
                    <a:pt x="18256250" y="47916"/>
                    <a:pt x="18256250" y="66117"/>
                  </a:cubicBezTo>
                  <a:lnTo>
                    <a:pt x="18256250" y="10093858"/>
                  </a:lnTo>
                  <a:cubicBezTo>
                    <a:pt x="18256250" y="10112133"/>
                    <a:pt x="18249824" y="10127704"/>
                    <a:pt x="18236845" y="10140634"/>
                  </a:cubicBezTo>
                  <a:cubicBezTo>
                    <a:pt x="18223942" y="10153523"/>
                    <a:pt x="18208346" y="10160000"/>
                    <a:pt x="18190133" y="10160000"/>
                  </a:cubicBezTo>
                  <a:lnTo>
                    <a:pt x="423329" y="10160000"/>
                  </a:lnTo>
                  <a:cubicBezTo>
                    <a:pt x="395529" y="10160000"/>
                    <a:pt x="368021" y="10157637"/>
                    <a:pt x="340728" y="10152863"/>
                  </a:cubicBezTo>
                  <a:cubicBezTo>
                    <a:pt x="313474" y="10148125"/>
                    <a:pt x="287020" y="10141090"/>
                    <a:pt x="261328" y="10131806"/>
                  </a:cubicBezTo>
                  <a:cubicBezTo>
                    <a:pt x="235636" y="10122495"/>
                    <a:pt x="211252" y="10111079"/>
                    <a:pt x="188125" y="10097579"/>
                  </a:cubicBezTo>
                  <a:cubicBezTo>
                    <a:pt x="165036" y="10084042"/>
                    <a:pt x="143650" y="10068700"/>
                    <a:pt x="123990" y="10051492"/>
                  </a:cubicBezTo>
                  <a:cubicBezTo>
                    <a:pt x="104343" y="10034309"/>
                    <a:pt x="86792" y="10015587"/>
                    <a:pt x="71349" y="9995384"/>
                  </a:cubicBezTo>
                  <a:cubicBezTo>
                    <a:pt x="55893" y="9975152"/>
                    <a:pt x="42850" y="9953789"/>
                    <a:pt x="32220" y="9931335"/>
                  </a:cubicBezTo>
                  <a:cubicBezTo>
                    <a:pt x="21577" y="9908871"/>
                    <a:pt x="13564" y="9885691"/>
                    <a:pt x="8128" y="9861854"/>
                  </a:cubicBezTo>
                  <a:cubicBezTo>
                    <a:pt x="2705" y="9837979"/>
                    <a:pt x="0" y="9813900"/>
                    <a:pt x="0" y="9789592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99694" y="6139891"/>
            <a:ext cx="3296412" cy="77724"/>
            <a:chOff x="0" y="0"/>
            <a:chExt cx="4395216" cy="1036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95216" cy="103632"/>
            </a:xfrm>
            <a:custGeom>
              <a:avLst/>
              <a:gdLst/>
              <a:ahLst/>
              <a:cxnLst/>
              <a:rect l="l" t="t" r="r" b="b"/>
              <a:pathLst>
                <a:path w="4395216" h="103632">
                  <a:moveTo>
                    <a:pt x="0" y="0"/>
                  </a:moveTo>
                  <a:lnTo>
                    <a:pt x="4395216" y="0"/>
                  </a:lnTo>
                  <a:lnTo>
                    <a:pt x="4395216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99694" y="7911541"/>
            <a:ext cx="3296412" cy="77724"/>
            <a:chOff x="0" y="0"/>
            <a:chExt cx="4395216" cy="1036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95216" cy="103632"/>
            </a:xfrm>
            <a:custGeom>
              <a:avLst/>
              <a:gdLst/>
              <a:ahLst/>
              <a:cxnLst/>
              <a:rect l="l" t="t" r="r" b="b"/>
              <a:pathLst>
                <a:path w="4395216" h="103632">
                  <a:moveTo>
                    <a:pt x="0" y="0"/>
                  </a:moveTo>
                  <a:lnTo>
                    <a:pt x="4395216" y="0"/>
                  </a:lnTo>
                  <a:lnTo>
                    <a:pt x="4395216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970848" y="6139891"/>
            <a:ext cx="925830" cy="1849374"/>
            <a:chOff x="0" y="0"/>
            <a:chExt cx="1234440" cy="24658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34440" cy="2465832"/>
            </a:xfrm>
            <a:custGeom>
              <a:avLst/>
              <a:gdLst/>
              <a:ahLst/>
              <a:cxnLst/>
              <a:rect l="l" t="t" r="r" b="b"/>
              <a:pathLst>
                <a:path w="1234440" h="2465832">
                  <a:moveTo>
                    <a:pt x="0" y="0"/>
                  </a:moveTo>
                  <a:lnTo>
                    <a:pt x="1234440" y="0"/>
                  </a:lnTo>
                  <a:lnTo>
                    <a:pt x="1234440" y="2465832"/>
                  </a:lnTo>
                  <a:lnTo>
                    <a:pt x="0" y="2465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97692" r="8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580263" y="6139891"/>
            <a:ext cx="77724" cy="1849374"/>
            <a:chOff x="0" y="0"/>
            <a:chExt cx="103632" cy="246583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3632" cy="2465832"/>
            </a:xfrm>
            <a:custGeom>
              <a:avLst/>
              <a:gdLst/>
              <a:ahLst/>
              <a:cxnLst/>
              <a:rect l="l" t="t" r="r" b="b"/>
              <a:pathLst>
                <a:path w="103632" h="2465832">
                  <a:moveTo>
                    <a:pt x="0" y="0"/>
                  </a:moveTo>
                  <a:lnTo>
                    <a:pt x="103632" y="0"/>
                  </a:lnTo>
                  <a:lnTo>
                    <a:pt x="103632" y="2465832"/>
                  </a:lnTo>
                  <a:lnTo>
                    <a:pt x="0" y="2465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4066604" y="6150178"/>
            <a:ext cx="3287268" cy="1828800"/>
            <a:chOff x="22595417" y="30744583"/>
            <a:chExt cx="18256250" cy="10160000"/>
          </a:xfrm>
        </p:grpSpPr>
        <p:sp>
          <p:nvSpPr>
            <p:cNvPr id="21" name="Freeform 21"/>
            <p:cNvSpPr/>
            <p:nvPr/>
          </p:nvSpPr>
          <p:spPr>
            <a:xfrm>
              <a:off x="4" y="-4"/>
              <a:ext cx="18256251" cy="10160000"/>
            </a:xfrm>
            <a:custGeom>
              <a:avLst/>
              <a:gdLst/>
              <a:ahLst/>
              <a:cxnLst/>
              <a:rect l="l" t="t" r="r" b="b"/>
              <a:pathLst>
                <a:path w="18256251" h="10160000">
                  <a:moveTo>
                    <a:pt x="0" y="9789592"/>
                  </a:moveTo>
                  <a:lnTo>
                    <a:pt x="0" y="370421"/>
                  </a:lnTo>
                  <a:cubicBezTo>
                    <a:pt x="0" y="346075"/>
                    <a:pt x="2681" y="322021"/>
                    <a:pt x="8116" y="298171"/>
                  </a:cubicBezTo>
                  <a:cubicBezTo>
                    <a:pt x="13539" y="274256"/>
                    <a:pt x="21590" y="251116"/>
                    <a:pt x="32246" y="228677"/>
                  </a:cubicBezTo>
                  <a:cubicBezTo>
                    <a:pt x="42824" y="206170"/>
                    <a:pt x="55880" y="184860"/>
                    <a:pt x="71323" y="164604"/>
                  </a:cubicBezTo>
                  <a:cubicBezTo>
                    <a:pt x="86779" y="144360"/>
                    <a:pt x="104344" y="125667"/>
                    <a:pt x="123965" y="108446"/>
                  </a:cubicBezTo>
                  <a:cubicBezTo>
                    <a:pt x="143650" y="91300"/>
                    <a:pt x="165024" y="75921"/>
                    <a:pt x="188100" y="62446"/>
                  </a:cubicBezTo>
                  <a:cubicBezTo>
                    <a:pt x="211240" y="48896"/>
                    <a:pt x="235649" y="37542"/>
                    <a:pt x="261328" y="28231"/>
                  </a:cubicBezTo>
                  <a:cubicBezTo>
                    <a:pt x="287020" y="18910"/>
                    <a:pt x="313474" y="11863"/>
                    <a:pt x="340703" y="7125"/>
                  </a:cubicBezTo>
                  <a:cubicBezTo>
                    <a:pt x="368009" y="2400"/>
                    <a:pt x="395529" y="0"/>
                    <a:pt x="423329" y="0"/>
                  </a:cubicBezTo>
                  <a:lnTo>
                    <a:pt x="18190134" y="0"/>
                  </a:lnTo>
                  <a:cubicBezTo>
                    <a:pt x="18208334" y="0"/>
                    <a:pt x="18223930" y="6427"/>
                    <a:pt x="18236844" y="19406"/>
                  </a:cubicBezTo>
                  <a:cubicBezTo>
                    <a:pt x="18249823" y="32246"/>
                    <a:pt x="18256251" y="47916"/>
                    <a:pt x="18256251" y="66117"/>
                  </a:cubicBezTo>
                  <a:lnTo>
                    <a:pt x="18256251" y="10093858"/>
                  </a:lnTo>
                  <a:cubicBezTo>
                    <a:pt x="18256251" y="10112133"/>
                    <a:pt x="18249823" y="10127704"/>
                    <a:pt x="18236844" y="10140634"/>
                  </a:cubicBezTo>
                  <a:cubicBezTo>
                    <a:pt x="18223930" y="10153523"/>
                    <a:pt x="18208334" y="10160000"/>
                    <a:pt x="18190134" y="10160000"/>
                  </a:cubicBezTo>
                  <a:lnTo>
                    <a:pt x="423329" y="10160000"/>
                  </a:lnTo>
                  <a:cubicBezTo>
                    <a:pt x="395529" y="10160000"/>
                    <a:pt x="368009" y="10157637"/>
                    <a:pt x="340703" y="10152863"/>
                  </a:cubicBezTo>
                  <a:cubicBezTo>
                    <a:pt x="313474" y="10148125"/>
                    <a:pt x="287020" y="10141090"/>
                    <a:pt x="261328" y="10131806"/>
                  </a:cubicBezTo>
                  <a:cubicBezTo>
                    <a:pt x="235649" y="10122495"/>
                    <a:pt x="211240" y="10111079"/>
                    <a:pt x="188100" y="10097579"/>
                  </a:cubicBezTo>
                  <a:cubicBezTo>
                    <a:pt x="165024" y="10084042"/>
                    <a:pt x="143650" y="10068700"/>
                    <a:pt x="123965" y="10051492"/>
                  </a:cubicBezTo>
                  <a:cubicBezTo>
                    <a:pt x="104344" y="10034309"/>
                    <a:pt x="86779" y="10015587"/>
                    <a:pt x="71323" y="9995384"/>
                  </a:cubicBezTo>
                  <a:cubicBezTo>
                    <a:pt x="55880" y="9975152"/>
                    <a:pt x="42824" y="9953789"/>
                    <a:pt x="32246" y="9931335"/>
                  </a:cubicBezTo>
                  <a:cubicBezTo>
                    <a:pt x="21590" y="9908871"/>
                    <a:pt x="13539" y="9885691"/>
                    <a:pt x="8116" y="9861854"/>
                  </a:cubicBezTo>
                  <a:cubicBezTo>
                    <a:pt x="2681" y="9837979"/>
                    <a:pt x="0" y="9813900"/>
                    <a:pt x="0" y="9789592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066794" y="6139891"/>
            <a:ext cx="3296412" cy="77724"/>
            <a:chOff x="0" y="0"/>
            <a:chExt cx="4395216" cy="1036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95216" cy="103632"/>
            </a:xfrm>
            <a:custGeom>
              <a:avLst/>
              <a:gdLst/>
              <a:ahLst/>
              <a:cxnLst/>
              <a:rect l="l" t="t" r="r" b="b"/>
              <a:pathLst>
                <a:path w="4395216" h="103632">
                  <a:moveTo>
                    <a:pt x="0" y="0"/>
                  </a:moveTo>
                  <a:lnTo>
                    <a:pt x="4395216" y="0"/>
                  </a:lnTo>
                  <a:lnTo>
                    <a:pt x="4395216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4066794" y="7911541"/>
            <a:ext cx="3296412" cy="77724"/>
            <a:chOff x="0" y="0"/>
            <a:chExt cx="4395216" cy="1036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95216" cy="103632"/>
            </a:xfrm>
            <a:custGeom>
              <a:avLst/>
              <a:gdLst/>
              <a:ahLst/>
              <a:cxnLst/>
              <a:rect l="l" t="t" r="r" b="b"/>
              <a:pathLst>
                <a:path w="4395216" h="103632">
                  <a:moveTo>
                    <a:pt x="0" y="0"/>
                  </a:moveTo>
                  <a:lnTo>
                    <a:pt x="4395216" y="0"/>
                  </a:lnTo>
                  <a:lnTo>
                    <a:pt x="4395216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6437947" y="6139891"/>
            <a:ext cx="925830" cy="1849374"/>
            <a:chOff x="0" y="0"/>
            <a:chExt cx="1234440" cy="24658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34440" cy="2465832"/>
            </a:xfrm>
            <a:custGeom>
              <a:avLst/>
              <a:gdLst/>
              <a:ahLst/>
              <a:cxnLst/>
              <a:rect l="l" t="t" r="r" b="b"/>
              <a:pathLst>
                <a:path w="1234440" h="2465832">
                  <a:moveTo>
                    <a:pt x="0" y="0"/>
                  </a:moveTo>
                  <a:lnTo>
                    <a:pt x="1234440" y="0"/>
                  </a:lnTo>
                  <a:lnTo>
                    <a:pt x="1234440" y="2465832"/>
                  </a:lnTo>
                  <a:lnTo>
                    <a:pt x="0" y="2465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97692" r="85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4047363" y="6139891"/>
            <a:ext cx="77724" cy="1849374"/>
            <a:chOff x="0" y="0"/>
            <a:chExt cx="103632" cy="24658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3632" cy="2465832"/>
            </a:xfrm>
            <a:custGeom>
              <a:avLst/>
              <a:gdLst/>
              <a:ahLst/>
              <a:cxnLst/>
              <a:rect l="l" t="t" r="r" b="b"/>
              <a:pathLst>
                <a:path w="103632" h="2465832">
                  <a:moveTo>
                    <a:pt x="0" y="0"/>
                  </a:moveTo>
                  <a:lnTo>
                    <a:pt x="103632" y="0"/>
                  </a:lnTo>
                  <a:lnTo>
                    <a:pt x="103632" y="2465832"/>
                  </a:lnTo>
                  <a:lnTo>
                    <a:pt x="0" y="2465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7533704" y="6150178"/>
            <a:ext cx="3287268" cy="1828800"/>
            <a:chOff x="41857083" y="30744583"/>
            <a:chExt cx="18256250" cy="10160000"/>
          </a:xfrm>
        </p:grpSpPr>
        <p:sp>
          <p:nvSpPr>
            <p:cNvPr id="31" name="Freeform 31"/>
            <p:cNvSpPr/>
            <p:nvPr/>
          </p:nvSpPr>
          <p:spPr>
            <a:xfrm>
              <a:off x="-4" y="-4"/>
              <a:ext cx="18256249" cy="10160000"/>
            </a:xfrm>
            <a:custGeom>
              <a:avLst/>
              <a:gdLst/>
              <a:ahLst/>
              <a:cxnLst/>
              <a:rect l="l" t="t" r="r" b="b"/>
              <a:pathLst>
                <a:path w="18256249" h="10160000">
                  <a:moveTo>
                    <a:pt x="0" y="9789592"/>
                  </a:moveTo>
                  <a:lnTo>
                    <a:pt x="0" y="370421"/>
                  </a:lnTo>
                  <a:cubicBezTo>
                    <a:pt x="0" y="346075"/>
                    <a:pt x="2679" y="322021"/>
                    <a:pt x="8114" y="298171"/>
                  </a:cubicBezTo>
                  <a:cubicBezTo>
                    <a:pt x="13549" y="274256"/>
                    <a:pt x="21589" y="251116"/>
                    <a:pt x="32246" y="228677"/>
                  </a:cubicBezTo>
                  <a:cubicBezTo>
                    <a:pt x="42838" y="206170"/>
                    <a:pt x="55879" y="184860"/>
                    <a:pt x="71335" y="164604"/>
                  </a:cubicBezTo>
                  <a:cubicBezTo>
                    <a:pt x="86791" y="144360"/>
                    <a:pt x="104356" y="125667"/>
                    <a:pt x="123964" y="108446"/>
                  </a:cubicBezTo>
                  <a:cubicBezTo>
                    <a:pt x="143650" y="91300"/>
                    <a:pt x="165035" y="75921"/>
                    <a:pt x="188100" y="62446"/>
                  </a:cubicBezTo>
                  <a:cubicBezTo>
                    <a:pt x="211252" y="48896"/>
                    <a:pt x="235660" y="37542"/>
                    <a:pt x="261339" y="28231"/>
                  </a:cubicBezTo>
                  <a:cubicBezTo>
                    <a:pt x="287021" y="18910"/>
                    <a:pt x="313488" y="11863"/>
                    <a:pt x="340714" y="7125"/>
                  </a:cubicBezTo>
                  <a:cubicBezTo>
                    <a:pt x="368021" y="2400"/>
                    <a:pt x="395542" y="0"/>
                    <a:pt x="423341" y="0"/>
                  </a:cubicBezTo>
                  <a:lnTo>
                    <a:pt x="18190145" y="0"/>
                  </a:lnTo>
                  <a:cubicBezTo>
                    <a:pt x="18208345" y="0"/>
                    <a:pt x="18223941" y="6427"/>
                    <a:pt x="18236858" y="19406"/>
                  </a:cubicBezTo>
                  <a:cubicBezTo>
                    <a:pt x="18249757" y="32246"/>
                    <a:pt x="18256249" y="47916"/>
                    <a:pt x="18256249" y="66117"/>
                  </a:cubicBezTo>
                  <a:lnTo>
                    <a:pt x="18256249" y="10093858"/>
                  </a:lnTo>
                  <a:cubicBezTo>
                    <a:pt x="18256249" y="10112133"/>
                    <a:pt x="18249757" y="10127704"/>
                    <a:pt x="18236858" y="10140634"/>
                  </a:cubicBezTo>
                  <a:cubicBezTo>
                    <a:pt x="18223941" y="10153523"/>
                    <a:pt x="18208345" y="10160000"/>
                    <a:pt x="18190145" y="10160000"/>
                  </a:cubicBezTo>
                  <a:lnTo>
                    <a:pt x="423341" y="10160000"/>
                  </a:lnTo>
                  <a:cubicBezTo>
                    <a:pt x="395542" y="10160000"/>
                    <a:pt x="368021" y="10157637"/>
                    <a:pt x="340714" y="10152863"/>
                  </a:cubicBezTo>
                  <a:cubicBezTo>
                    <a:pt x="313488" y="10148125"/>
                    <a:pt x="287021" y="10141090"/>
                    <a:pt x="261339" y="10131806"/>
                  </a:cubicBezTo>
                  <a:cubicBezTo>
                    <a:pt x="235660" y="10122495"/>
                    <a:pt x="211252" y="10111079"/>
                    <a:pt x="188100" y="10097579"/>
                  </a:cubicBezTo>
                  <a:cubicBezTo>
                    <a:pt x="165035" y="10084042"/>
                    <a:pt x="143650" y="10068700"/>
                    <a:pt x="123964" y="10051492"/>
                  </a:cubicBezTo>
                  <a:cubicBezTo>
                    <a:pt x="104356" y="10034309"/>
                    <a:pt x="86791" y="10015587"/>
                    <a:pt x="71335" y="9995384"/>
                  </a:cubicBezTo>
                  <a:cubicBezTo>
                    <a:pt x="55879" y="9975152"/>
                    <a:pt x="42838" y="9953789"/>
                    <a:pt x="32246" y="9931335"/>
                  </a:cubicBezTo>
                  <a:cubicBezTo>
                    <a:pt x="21589" y="9908871"/>
                    <a:pt x="13549" y="9885691"/>
                    <a:pt x="8114" y="9861854"/>
                  </a:cubicBezTo>
                  <a:cubicBezTo>
                    <a:pt x="2679" y="9837979"/>
                    <a:pt x="0" y="9813900"/>
                    <a:pt x="0" y="9789592"/>
                  </a:cubicBez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7533894" y="6139891"/>
            <a:ext cx="3296412" cy="77724"/>
            <a:chOff x="0" y="0"/>
            <a:chExt cx="4395216" cy="10363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395216" cy="103632"/>
            </a:xfrm>
            <a:custGeom>
              <a:avLst/>
              <a:gdLst/>
              <a:ahLst/>
              <a:cxnLst/>
              <a:rect l="l" t="t" r="r" b="b"/>
              <a:pathLst>
                <a:path w="4395216" h="103632">
                  <a:moveTo>
                    <a:pt x="0" y="0"/>
                  </a:moveTo>
                  <a:lnTo>
                    <a:pt x="4395216" y="0"/>
                  </a:lnTo>
                  <a:lnTo>
                    <a:pt x="4395216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7533894" y="7911541"/>
            <a:ext cx="3296412" cy="77724"/>
            <a:chOff x="0" y="0"/>
            <a:chExt cx="4395216" cy="1036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95216" cy="103632"/>
            </a:xfrm>
            <a:custGeom>
              <a:avLst/>
              <a:gdLst/>
              <a:ahLst/>
              <a:cxnLst/>
              <a:rect l="l" t="t" r="r" b="b"/>
              <a:pathLst>
                <a:path w="4395216" h="103632">
                  <a:moveTo>
                    <a:pt x="0" y="0"/>
                  </a:moveTo>
                  <a:lnTo>
                    <a:pt x="4395216" y="0"/>
                  </a:lnTo>
                  <a:lnTo>
                    <a:pt x="4395216" y="103632"/>
                  </a:lnTo>
                  <a:lnTo>
                    <a:pt x="0" y="103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9905048" y="6139891"/>
            <a:ext cx="925830" cy="1849374"/>
            <a:chOff x="0" y="0"/>
            <a:chExt cx="1234440" cy="246583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34440" cy="2465832"/>
            </a:xfrm>
            <a:custGeom>
              <a:avLst/>
              <a:gdLst/>
              <a:ahLst/>
              <a:cxnLst/>
              <a:rect l="l" t="t" r="r" b="b"/>
              <a:pathLst>
                <a:path w="1234440" h="2465832">
                  <a:moveTo>
                    <a:pt x="0" y="0"/>
                  </a:moveTo>
                  <a:lnTo>
                    <a:pt x="1234440" y="0"/>
                  </a:lnTo>
                  <a:lnTo>
                    <a:pt x="1234440" y="2465832"/>
                  </a:lnTo>
                  <a:lnTo>
                    <a:pt x="0" y="2465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97692" r="85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7514463" y="6139891"/>
            <a:ext cx="77724" cy="1849374"/>
            <a:chOff x="0" y="0"/>
            <a:chExt cx="103632" cy="246583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3632" cy="2465832"/>
            </a:xfrm>
            <a:custGeom>
              <a:avLst/>
              <a:gdLst/>
              <a:ahLst/>
              <a:cxnLst/>
              <a:rect l="l" t="t" r="r" b="b"/>
              <a:pathLst>
                <a:path w="103632" h="2465832">
                  <a:moveTo>
                    <a:pt x="0" y="0"/>
                  </a:moveTo>
                  <a:lnTo>
                    <a:pt x="103632" y="0"/>
                  </a:lnTo>
                  <a:lnTo>
                    <a:pt x="103632" y="2465832"/>
                  </a:lnTo>
                  <a:lnTo>
                    <a:pt x="0" y="2465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600075" y="1132856"/>
            <a:ext cx="6339364" cy="56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1" spc="6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The Art of Social Engineering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12131" y="6351375"/>
            <a:ext cx="109299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7725" y="6690589"/>
            <a:ext cx="2436247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Artificial urgency or fear short- circuits critical thinking.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14825" y="6690589"/>
            <a:ext cx="2765784" cy="109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Attackers mine social media for </a:t>
            </a:r>
            <a:r>
              <a:rPr lang="en-US" sz="1350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Spear Phishing</a:t>
            </a: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— highly targeted attacks using your name, role, and habits.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03394" y="6351375"/>
            <a:ext cx="109299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81925" y="6690589"/>
            <a:ext cx="2845946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Official logos and familiar branding lower your guard instantly.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30703" y="3490189"/>
            <a:ext cx="3281077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Phishing is not random — it is psychological warfare. Attackers exploit human instincts to bypass your defenses.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7725" y="6351375"/>
            <a:ext cx="2404586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Emotional</a:t>
            </a:r>
            <a:r>
              <a:rPr lang="en-US" sz="1687" b="1" spc="3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Manipulation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314825" y="6351375"/>
            <a:ext cx="1639491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Personalization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781925" y="6351375"/>
            <a:ext cx="2295287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The</a:t>
            </a:r>
            <a:r>
              <a:rPr lang="en-US" sz="1687" b="1" spc="3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Illusion</a:t>
            </a:r>
            <a:r>
              <a:rPr lang="en-US" sz="1687" b="1" spc="3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of</a:t>
            </a:r>
            <a:r>
              <a:rPr lang="en-US" sz="1687" b="1" spc="3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Trust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489252"/>
            <a:ext cx="11556997" cy="8099422"/>
            <a:chOff x="0" y="0"/>
            <a:chExt cx="11557000" cy="80994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7972425"/>
            </a:xfrm>
            <a:custGeom>
              <a:avLst/>
              <a:gdLst/>
              <a:ahLst/>
              <a:cxnLst/>
              <a:rect l="l" t="t" r="r" b="b"/>
              <a:pathLst>
                <a:path w="11430000" h="7972425">
                  <a:moveTo>
                    <a:pt x="0" y="0"/>
                  </a:moveTo>
                  <a:lnTo>
                    <a:pt x="11430000" y="0"/>
                  </a:lnTo>
                  <a:lnTo>
                    <a:pt x="11430000" y="7972425"/>
                  </a:lnTo>
                  <a:lnTo>
                    <a:pt x="0" y="79724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8326" y="68326"/>
              <a:ext cx="11420348" cy="7962900"/>
            </a:xfrm>
            <a:custGeom>
              <a:avLst/>
              <a:gdLst/>
              <a:ahLst/>
              <a:cxnLst/>
              <a:rect l="l" t="t" r="r" b="b"/>
              <a:pathLst>
                <a:path w="11420348" h="7962900">
                  <a:moveTo>
                    <a:pt x="0" y="0"/>
                  </a:moveTo>
                  <a:lnTo>
                    <a:pt x="0" y="7962900"/>
                  </a:lnTo>
                  <a:lnTo>
                    <a:pt x="11420348" y="7962900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110C17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7972425"/>
            </a:xfrm>
            <a:custGeom>
              <a:avLst/>
              <a:gdLst/>
              <a:ahLst/>
              <a:cxnLst/>
              <a:rect l="l" t="t" r="r" b="b"/>
              <a:pathLst>
                <a:path w="11430000" h="7972425">
                  <a:moveTo>
                    <a:pt x="0" y="0"/>
                  </a:moveTo>
                  <a:lnTo>
                    <a:pt x="11430000" y="0"/>
                  </a:lnTo>
                  <a:lnTo>
                    <a:pt x="11430000" y="7972425"/>
                  </a:lnTo>
                  <a:lnTo>
                    <a:pt x="0" y="7972425"/>
                  </a:lnTo>
                  <a:close/>
                </a:path>
              </a:pathLst>
            </a:custGeom>
            <a:solidFill>
              <a:srgbClr val="241631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3652647" y="3071495"/>
              <a:ext cx="1663446" cy="1663446"/>
            </a:xfrm>
            <a:custGeom>
              <a:avLst/>
              <a:gdLst/>
              <a:ahLst/>
              <a:cxnLst/>
              <a:rect l="l" t="t" r="r" b="b"/>
              <a:pathLst>
                <a:path w="1663446" h="1663446">
                  <a:moveTo>
                    <a:pt x="1663446" y="831723"/>
                  </a:moveTo>
                  <a:lnTo>
                    <a:pt x="831723" y="0"/>
                  </a:lnTo>
                  <a:lnTo>
                    <a:pt x="0" y="831723"/>
                  </a:lnTo>
                  <a:lnTo>
                    <a:pt x="831723" y="1663446"/>
                  </a:lnTo>
                </a:path>
              </a:pathLst>
            </a:custGeom>
            <a:solidFill>
              <a:srgbClr val="D8077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4546600" y="3961384"/>
              <a:ext cx="1663446" cy="1663446"/>
            </a:xfrm>
            <a:custGeom>
              <a:avLst/>
              <a:gdLst/>
              <a:ahLst/>
              <a:cxnLst/>
              <a:rect l="l" t="t" r="r" b="b"/>
              <a:pathLst>
                <a:path w="1663446" h="1663446">
                  <a:moveTo>
                    <a:pt x="1663446" y="831723"/>
                  </a:moveTo>
                  <a:lnTo>
                    <a:pt x="831723" y="0"/>
                  </a:lnTo>
                  <a:lnTo>
                    <a:pt x="0" y="831723"/>
                  </a:lnTo>
                  <a:lnTo>
                    <a:pt x="831723" y="1663446"/>
                  </a:lnTo>
                </a:path>
              </a:pathLst>
            </a:custGeom>
            <a:solidFill>
              <a:srgbClr val="F71C9A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26505" y="3961384"/>
              <a:ext cx="1663446" cy="1663446"/>
            </a:xfrm>
            <a:custGeom>
              <a:avLst/>
              <a:gdLst/>
              <a:ahLst/>
              <a:cxnLst/>
              <a:rect l="l" t="t" r="r" b="b"/>
              <a:pathLst>
                <a:path w="1663446" h="1663446">
                  <a:moveTo>
                    <a:pt x="1663446" y="831723"/>
                  </a:moveTo>
                  <a:lnTo>
                    <a:pt x="831723" y="0"/>
                  </a:lnTo>
                  <a:lnTo>
                    <a:pt x="0" y="831723"/>
                  </a:lnTo>
                  <a:lnTo>
                    <a:pt x="831723" y="1663446"/>
                  </a:lnTo>
                </a:path>
              </a:pathLst>
            </a:custGeom>
            <a:solidFill>
              <a:srgbClr val="F94FB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436616" y="3071368"/>
              <a:ext cx="1663446" cy="1663446"/>
            </a:xfrm>
            <a:custGeom>
              <a:avLst/>
              <a:gdLst/>
              <a:ahLst/>
              <a:cxnLst/>
              <a:rect l="l" t="t" r="r" b="b"/>
              <a:pathLst>
                <a:path w="1663446" h="1663446">
                  <a:moveTo>
                    <a:pt x="1663446" y="831723"/>
                  </a:moveTo>
                  <a:lnTo>
                    <a:pt x="831723" y="0"/>
                  </a:lnTo>
                  <a:lnTo>
                    <a:pt x="0" y="831723"/>
                  </a:lnTo>
                  <a:lnTo>
                    <a:pt x="831723" y="1663446"/>
                  </a:lnTo>
                </a:path>
              </a:pathLst>
            </a:custGeom>
            <a:solidFill>
              <a:srgbClr val="FB82C7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53923" y="7302373"/>
              <a:ext cx="2276729" cy="228854"/>
            </a:xfrm>
            <a:custGeom>
              <a:avLst/>
              <a:gdLst/>
              <a:ahLst/>
              <a:cxnLst/>
              <a:rect l="l" t="t" r="r" b="b"/>
              <a:pathLst>
                <a:path w="2276729" h="228854">
                  <a:moveTo>
                    <a:pt x="127" y="2072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2255139" y="0"/>
                  </a:lnTo>
                  <a:cubicBezTo>
                    <a:pt x="2257933" y="0"/>
                    <a:pt x="2260727" y="508"/>
                    <a:pt x="2263394" y="1651"/>
                  </a:cubicBezTo>
                  <a:cubicBezTo>
                    <a:pt x="2266061" y="2794"/>
                    <a:pt x="2268347" y="4318"/>
                    <a:pt x="2270379" y="6350"/>
                  </a:cubicBezTo>
                  <a:cubicBezTo>
                    <a:pt x="2272411" y="8382"/>
                    <a:pt x="2273935" y="10668"/>
                    <a:pt x="2275078" y="13335"/>
                  </a:cubicBezTo>
                  <a:cubicBezTo>
                    <a:pt x="2276221" y="16002"/>
                    <a:pt x="2276729" y="18669"/>
                    <a:pt x="2276729" y="21590"/>
                  </a:cubicBezTo>
                  <a:lnTo>
                    <a:pt x="2276729" y="207264"/>
                  </a:lnTo>
                  <a:cubicBezTo>
                    <a:pt x="2276729" y="210058"/>
                    <a:pt x="2276221" y="212852"/>
                    <a:pt x="2275078" y="215519"/>
                  </a:cubicBezTo>
                  <a:cubicBezTo>
                    <a:pt x="2273935" y="218186"/>
                    <a:pt x="2272411" y="220472"/>
                    <a:pt x="2270379" y="222504"/>
                  </a:cubicBezTo>
                  <a:cubicBezTo>
                    <a:pt x="2268347" y="224536"/>
                    <a:pt x="2266061" y="226060"/>
                    <a:pt x="2263394" y="227203"/>
                  </a:cubicBezTo>
                  <a:cubicBezTo>
                    <a:pt x="2260727" y="228346"/>
                    <a:pt x="2258060" y="228854"/>
                    <a:pt x="2255139" y="228854"/>
                  </a:cubicBezTo>
                  <a:lnTo>
                    <a:pt x="21590" y="228854"/>
                  </a:lnTo>
                  <a:cubicBezTo>
                    <a:pt x="18796" y="228854"/>
                    <a:pt x="16002" y="228346"/>
                    <a:pt x="13335" y="227203"/>
                  </a:cubicBezTo>
                  <a:cubicBezTo>
                    <a:pt x="10668" y="226060"/>
                    <a:pt x="8382" y="224536"/>
                    <a:pt x="6350" y="222504"/>
                  </a:cubicBezTo>
                  <a:cubicBezTo>
                    <a:pt x="4318" y="220472"/>
                    <a:pt x="2794" y="218186"/>
                    <a:pt x="1651" y="215519"/>
                  </a:cubicBezTo>
                  <a:cubicBezTo>
                    <a:pt x="508" y="212852"/>
                    <a:pt x="0" y="210185"/>
                    <a:pt x="0" y="207264"/>
                  </a:cubicBezTo>
                  <a:close/>
                </a:path>
              </a:pathLst>
            </a:custGeom>
            <a:solidFill>
              <a:srgbClr val="31233E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00075" y="1069457"/>
            <a:ext cx="6625428" cy="1111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1" spc="6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Anatomy of a Phishing Email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Every phishing email leaves traces. Learn to spot the warning signs before you click.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0075" y="7475087"/>
            <a:ext cx="957798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Always inspect the </a:t>
            </a:r>
            <a:r>
              <a:rPr lang="en-US" sz="1350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full sender address</a:t>
            </a: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, not just the display name. A message from "PayPal Support" could originate from </a:t>
            </a:r>
          </a:p>
          <a:p>
            <a:pPr algn="l">
              <a:lnSpc>
                <a:spcPts val="2250"/>
              </a:lnSpc>
            </a:pPr>
            <a:r>
              <a:rPr lang="en-US" sz="1350">
                <a:solidFill>
                  <a:srgbClr val="DAD1E6"/>
                </a:solidFill>
                <a:latin typeface="Open Sans"/>
                <a:ea typeface="Open Sans"/>
                <a:cs typeface="Open Sans"/>
                <a:sym typeface="Open Sans"/>
              </a:rPr>
              <a:t>support@paypa1-secure.xyz.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45771" y="2973200"/>
            <a:ext cx="2347703" cy="29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b="1" spc="32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Linguistic Red Flags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99532" y="3297469"/>
            <a:ext cx="49768" cy="25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76141" y="5919330"/>
            <a:ext cx="2112931" cy="29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b="1" spc="32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Sender Discrepancy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13522" y="6243599"/>
            <a:ext cx="49768" cy="25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06251" y="2973200"/>
            <a:ext cx="1878159" cy="29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b="1" spc="32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The Urgency Trap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26033" y="3297469"/>
            <a:ext cx="49768" cy="25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75759" y="5919330"/>
            <a:ext cx="1995545" cy="29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b="1" spc="32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Malicious Payload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06632" y="6243599"/>
            <a:ext cx="49768" cy="25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1703" y="3316519"/>
            <a:ext cx="2362143" cy="475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52"/>
              </a:lnSpc>
            </a:pP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Grammar</a:t>
            </a:r>
            <a:r>
              <a:rPr lang="en-US" sz="144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errors</a:t>
            </a:r>
            <a:r>
              <a:rPr lang="en-US" sz="144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and</a:t>
            </a:r>
            <a:r>
              <a:rPr lang="en-US" sz="144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an</a:t>
            </a:r>
            <a:r>
              <a:rPr lang="en-US" sz="144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odd tone.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06627" y="6262649"/>
            <a:ext cx="1877978" cy="475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52"/>
              </a:lnSpc>
            </a:pP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Displayname masksa suspicious address.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06251" y="3297469"/>
            <a:ext cx="2155193" cy="25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Threatsofsuspensionor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06251" y="3532756"/>
            <a:ext cx="1033167" cy="25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legal action.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75759" y="6243599"/>
            <a:ext cx="2429589" cy="25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Linksor attachmentsmeant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75759" y="6478886"/>
            <a:ext cx="1110920" cy="25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to steal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959510"/>
            <a:ext cx="11556997" cy="7156199"/>
            <a:chOff x="0" y="0"/>
            <a:chExt cx="11557000" cy="7156196"/>
          </a:xfrm>
        </p:grpSpPr>
        <p:sp>
          <p:nvSpPr>
            <p:cNvPr id="3" name="Freeform 3"/>
            <p:cNvSpPr/>
            <p:nvPr/>
          </p:nvSpPr>
          <p:spPr>
            <a:xfrm>
              <a:off x="68326" y="68072"/>
              <a:ext cx="11420348" cy="7019923"/>
            </a:xfrm>
            <a:custGeom>
              <a:avLst/>
              <a:gdLst/>
              <a:ahLst/>
              <a:cxnLst/>
              <a:rect l="l" t="t" r="r" b="b"/>
              <a:pathLst>
                <a:path w="11420348" h="7019923">
                  <a:moveTo>
                    <a:pt x="0" y="0"/>
                  </a:moveTo>
                  <a:lnTo>
                    <a:pt x="0" y="7019923"/>
                  </a:lnTo>
                  <a:lnTo>
                    <a:pt x="11420348" y="7019923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110C17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7029194"/>
            </a:xfrm>
            <a:custGeom>
              <a:avLst/>
              <a:gdLst/>
              <a:ahLst/>
              <a:cxnLst/>
              <a:rect l="l" t="t" r="r" b="b"/>
              <a:pathLst>
                <a:path w="11430000" h="7029194">
                  <a:moveTo>
                    <a:pt x="0" y="0"/>
                  </a:moveTo>
                  <a:lnTo>
                    <a:pt x="0" y="7029194"/>
                  </a:lnTo>
                  <a:lnTo>
                    <a:pt x="11430000" y="7029194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00075" y="2480081"/>
            <a:ext cx="4905375" cy="4905375"/>
            <a:chOff x="0" y="0"/>
            <a:chExt cx="6540500" cy="6540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40500" cy="6540500"/>
            </a:xfrm>
            <a:custGeom>
              <a:avLst/>
              <a:gdLst/>
              <a:ahLst/>
              <a:cxnLst/>
              <a:rect l="l" t="t" r="r" b="b"/>
              <a:pathLst>
                <a:path w="6540500" h="6540500">
                  <a:moveTo>
                    <a:pt x="28448" y="0"/>
                  </a:moveTo>
                  <a:cubicBezTo>
                    <a:pt x="20574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6511925"/>
                  </a:lnTo>
                  <a:cubicBezTo>
                    <a:pt x="0" y="6519799"/>
                    <a:pt x="2794" y="6526530"/>
                    <a:pt x="8382" y="6532118"/>
                  </a:cubicBezTo>
                  <a:cubicBezTo>
                    <a:pt x="13970" y="6537706"/>
                    <a:pt x="20447" y="6540373"/>
                    <a:pt x="28194" y="6540500"/>
                  </a:cubicBezTo>
                  <a:lnTo>
                    <a:pt x="6512306" y="6540500"/>
                  </a:lnTo>
                  <a:cubicBezTo>
                    <a:pt x="6520053" y="6540373"/>
                    <a:pt x="6526657" y="6537579"/>
                    <a:pt x="6532118" y="6532118"/>
                  </a:cubicBezTo>
                  <a:cubicBezTo>
                    <a:pt x="6537579" y="6526657"/>
                    <a:pt x="6540500" y="6519799"/>
                    <a:pt x="6540500" y="6511925"/>
                  </a:cubicBezTo>
                  <a:lnTo>
                    <a:pt x="6540500" y="28575"/>
                  </a:lnTo>
                  <a:cubicBezTo>
                    <a:pt x="6540500" y="20701"/>
                    <a:pt x="6537706" y="13970"/>
                    <a:pt x="6532118" y="8382"/>
                  </a:cubicBezTo>
                  <a:cubicBezTo>
                    <a:pt x="6526530" y="2794"/>
                    <a:pt x="6519926" y="0"/>
                    <a:pt x="6512052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870572" y="4807353"/>
            <a:ext cx="5032372" cy="1412872"/>
            <a:chOff x="0" y="0"/>
            <a:chExt cx="5032375" cy="1412875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4905502" cy="1286002"/>
            </a:xfrm>
            <a:custGeom>
              <a:avLst/>
              <a:gdLst/>
              <a:ahLst/>
              <a:cxnLst/>
              <a:rect l="l" t="t" r="r" b="b"/>
              <a:pathLst>
                <a:path w="4905502" h="1286002">
                  <a:moveTo>
                    <a:pt x="0" y="126441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4883912" y="0"/>
                  </a:lnTo>
                  <a:cubicBezTo>
                    <a:pt x="4886706" y="0"/>
                    <a:pt x="4889500" y="508"/>
                    <a:pt x="4892167" y="1651"/>
                  </a:cubicBezTo>
                  <a:cubicBezTo>
                    <a:pt x="4894834" y="2794"/>
                    <a:pt x="4897120" y="4318"/>
                    <a:pt x="4899152" y="6223"/>
                  </a:cubicBezTo>
                  <a:cubicBezTo>
                    <a:pt x="4901184" y="8128"/>
                    <a:pt x="4902708" y="10541"/>
                    <a:pt x="4903851" y="13208"/>
                  </a:cubicBezTo>
                  <a:cubicBezTo>
                    <a:pt x="4904994" y="15875"/>
                    <a:pt x="4905502" y="18542"/>
                    <a:pt x="4905502" y="21463"/>
                  </a:cubicBezTo>
                  <a:lnTo>
                    <a:pt x="4905502" y="1264539"/>
                  </a:lnTo>
                  <a:cubicBezTo>
                    <a:pt x="4905502" y="1267333"/>
                    <a:pt x="4904994" y="1270127"/>
                    <a:pt x="4903851" y="1272667"/>
                  </a:cubicBezTo>
                  <a:cubicBezTo>
                    <a:pt x="4902708" y="1275207"/>
                    <a:pt x="4901184" y="1277620"/>
                    <a:pt x="4899152" y="1279652"/>
                  </a:cubicBezTo>
                  <a:cubicBezTo>
                    <a:pt x="4897120" y="1281684"/>
                    <a:pt x="4894834" y="1283208"/>
                    <a:pt x="4892167" y="1284351"/>
                  </a:cubicBezTo>
                  <a:cubicBezTo>
                    <a:pt x="4889500" y="1285494"/>
                    <a:pt x="4886833" y="1286002"/>
                    <a:pt x="4883912" y="1286002"/>
                  </a:cubicBezTo>
                  <a:lnTo>
                    <a:pt x="21463" y="1286002"/>
                  </a:lnTo>
                  <a:cubicBezTo>
                    <a:pt x="18669" y="1286002"/>
                    <a:pt x="15875" y="1285494"/>
                    <a:pt x="13208" y="1284351"/>
                  </a:cubicBezTo>
                  <a:cubicBezTo>
                    <a:pt x="10541" y="1283208"/>
                    <a:pt x="8255" y="1281684"/>
                    <a:pt x="6223" y="1279652"/>
                  </a:cubicBezTo>
                  <a:cubicBezTo>
                    <a:pt x="4191" y="1277620"/>
                    <a:pt x="2667" y="1275334"/>
                    <a:pt x="1651" y="1272667"/>
                  </a:cubicBezTo>
                  <a:cubicBezTo>
                    <a:pt x="635" y="1270000"/>
                    <a:pt x="0" y="1267333"/>
                    <a:pt x="0" y="1264539"/>
                  </a:cubicBezTo>
                </a:path>
              </a:pathLst>
            </a:custGeom>
            <a:solidFill>
              <a:srgbClr val="4B3F02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56413" y="331343"/>
              <a:ext cx="171450" cy="150114"/>
            </a:xfrm>
            <a:custGeom>
              <a:avLst/>
              <a:gdLst/>
              <a:ahLst/>
              <a:cxnLst/>
              <a:rect l="l" t="t" r="r" b="b"/>
              <a:pathLst>
                <a:path w="171450" h="150114">
                  <a:moveTo>
                    <a:pt x="83185" y="17526"/>
                  </a:moveTo>
                  <a:cubicBezTo>
                    <a:pt x="83693" y="16637"/>
                    <a:pt x="84709" y="16129"/>
                    <a:pt x="85725" y="16129"/>
                  </a:cubicBezTo>
                  <a:cubicBezTo>
                    <a:pt x="86741" y="16129"/>
                    <a:pt x="87757" y="16637"/>
                    <a:pt x="88265" y="17526"/>
                  </a:cubicBezTo>
                  <a:lnTo>
                    <a:pt x="154686" y="126619"/>
                  </a:lnTo>
                  <a:cubicBezTo>
                    <a:pt x="155194" y="127381"/>
                    <a:pt x="155448" y="128270"/>
                    <a:pt x="155448" y="129159"/>
                  </a:cubicBezTo>
                  <a:cubicBezTo>
                    <a:pt x="155448" y="131826"/>
                    <a:pt x="153289" y="133985"/>
                    <a:pt x="150622" y="133985"/>
                  </a:cubicBezTo>
                  <a:lnTo>
                    <a:pt x="20955" y="133985"/>
                  </a:lnTo>
                  <a:cubicBezTo>
                    <a:pt x="18288" y="133985"/>
                    <a:pt x="16129" y="131826"/>
                    <a:pt x="16129" y="129159"/>
                  </a:cubicBezTo>
                  <a:cubicBezTo>
                    <a:pt x="16129" y="128270"/>
                    <a:pt x="16383" y="127381"/>
                    <a:pt x="16891" y="126619"/>
                  </a:cubicBezTo>
                  <a:lnTo>
                    <a:pt x="83312" y="17526"/>
                  </a:lnTo>
                  <a:close/>
                  <a:moveTo>
                    <a:pt x="69596" y="9144"/>
                  </a:moveTo>
                  <a:lnTo>
                    <a:pt x="3048" y="118237"/>
                  </a:lnTo>
                  <a:cubicBezTo>
                    <a:pt x="1016" y="121539"/>
                    <a:pt x="0" y="125222"/>
                    <a:pt x="0" y="129159"/>
                  </a:cubicBezTo>
                  <a:cubicBezTo>
                    <a:pt x="0" y="140716"/>
                    <a:pt x="9398" y="150114"/>
                    <a:pt x="20955" y="150114"/>
                  </a:cubicBezTo>
                  <a:lnTo>
                    <a:pt x="150495" y="150114"/>
                  </a:lnTo>
                  <a:cubicBezTo>
                    <a:pt x="162052" y="150114"/>
                    <a:pt x="171450" y="140716"/>
                    <a:pt x="171450" y="129159"/>
                  </a:cubicBezTo>
                  <a:cubicBezTo>
                    <a:pt x="171450" y="125349"/>
                    <a:pt x="170434" y="121539"/>
                    <a:pt x="168402" y="118237"/>
                  </a:cubicBezTo>
                  <a:lnTo>
                    <a:pt x="101981" y="9144"/>
                  </a:lnTo>
                  <a:cubicBezTo>
                    <a:pt x="98552" y="3429"/>
                    <a:pt x="92329" y="0"/>
                    <a:pt x="85725" y="0"/>
                  </a:cubicBezTo>
                  <a:cubicBezTo>
                    <a:pt x="79121" y="0"/>
                    <a:pt x="72898" y="3429"/>
                    <a:pt x="69469" y="9144"/>
                  </a:cubicBezTo>
                  <a:close/>
                  <a:moveTo>
                    <a:pt x="96393" y="112522"/>
                  </a:moveTo>
                  <a:cubicBezTo>
                    <a:pt x="96393" y="109601"/>
                    <a:pt x="95377" y="107061"/>
                    <a:pt x="93218" y="104902"/>
                  </a:cubicBezTo>
                  <a:cubicBezTo>
                    <a:pt x="91059" y="102743"/>
                    <a:pt x="88646" y="101727"/>
                    <a:pt x="85598" y="101727"/>
                  </a:cubicBezTo>
                  <a:cubicBezTo>
                    <a:pt x="82550" y="101727"/>
                    <a:pt x="80137" y="102743"/>
                    <a:pt x="77978" y="104902"/>
                  </a:cubicBezTo>
                  <a:cubicBezTo>
                    <a:pt x="75819" y="107061"/>
                    <a:pt x="74803" y="109474"/>
                    <a:pt x="74803" y="112522"/>
                  </a:cubicBezTo>
                  <a:cubicBezTo>
                    <a:pt x="74803" y="115570"/>
                    <a:pt x="75819" y="117983"/>
                    <a:pt x="77978" y="120142"/>
                  </a:cubicBezTo>
                  <a:cubicBezTo>
                    <a:pt x="80137" y="122301"/>
                    <a:pt x="82550" y="123317"/>
                    <a:pt x="85598" y="123317"/>
                  </a:cubicBezTo>
                  <a:cubicBezTo>
                    <a:pt x="88646" y="123317"/>
                    <a:pt x="91059" y="122301"/>
                    <a:pt x="93218" y="120142"/>
                  </a:cubicBezTo>
                  <a:cubicBezTo>
                    <a:pt x="95377" y="117983"/>
                    <a:pt x="96393" y="115570"/>
                    <a:pt x="96393" y="112522"/>
                  </a:cubicBezTo>
                  <a:close/>
                  <a:moveTo>
                    <a:pt x="93726" y="50927"/>
                  </a:moveTo>
                  <a:cubicBezTo>
                    <a:pt x="93726" y="46482"/>
                    <a:pt x="90170" y="42926"/>
                    <a:pt x="85725" y="42926"/>
                  </a:cubicBezTo>
                  <a:cubicBezTo>
                    <a:pt x="81280" y="42926"/>
                    <a:pt x="77724" y="46482"/>
                    <a:pt x="77724" y="50927"/>
                  </a:cubicBezTo>
                  <a:lnTo>
                    <a:pt x="77724" y="83058"/>
                  </a:lnTo>
                  <a:cubicBezTo>
                    <a:pt x="77724" y="87503"/>
                    <a:pt x="81280" y="91059"/>
                    <a:pt x="85725" y="91059"/>
                  </a:cubicBezTo>
                  <a:cubicBezTo>
                    <a:pt x="90170" y="91059"/>
                    <a:pt x="93726" y="87503"/>
                    <a:pt x="93726" y="83058"/>
                  </a:cubicBezTo>
                  <a:lnTo>
                    <a:pt x="93726" y="50927"/>
                  </a:lnTo>
                </a:path>
              </a:pathLst>
            </a:custGeom>
            <a:solidFill>
              <a:srgbClr val="F5F38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4471035" y="482600"/>
              <a:ext cx="262509" cy="9525"/>
            </a:xfrm>
            <a:custGeom>
              <a:avLst/>
              <a:gdLst/>
              <a:ahLst/>
              <a:cxnLst/>
              <a:rect l="l" t="t" r="r" b="b"/>
              <a:pathLst>
                <a:path w="262509" h="9525">
                  <a:moveTo>
                    <a:pt x="0" y="9525"/>
                  </a:moveTo>
                  <a:lnTo>
                    <a:pt x="262509" y="9525"/>
                  </a:lnTo>
                  <a:lnTo>
                    <a:pt x="2625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00075" y="1539459"/>
            <a:ext cx="7869555" cy="56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1" spc="6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Fake Websites: The Digital Deception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33627" y="3709978"/>
            <a:ext cx="2404586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Why Fake Sites Fool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29759" y="4153967"/>
            <a:ext cx="4633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33627" y="4153967"/>
            <a:ext cx="4619777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Modernphishing sitesarenear-perfect replicas. Attackers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33627" y="4420667"/>
            <a:ext cx="4091283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clone login pages to harvest credentials in seconds.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90840" y="5077892"/>
            <a:ext cx="4241921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Key rule:</a:t>
            </a: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If you arrived via an unsolicited link, do not enter any credentials — navigate directly to the official site instead.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3692576"/>
            <a:ext cx="1895475" cy="1171575"/>
            <a:chOff x="0" y="0"/>
            <a:chExt cx="2527300" cy="1562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7300" cy="1562100"/>
            </a:xfrm>
            <a:custGeom>
              <a:avLst/>
              <a:gdLst/>
              <a:ahLst/>
              <a:cxnLst/>
              <a:rect l="l" t="t" r="r" b="b"/>
              <a:pathLst>
                <a:path w="2527300" h="15621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1533525"/>
                  </a:lnTo>
                  <a:cubicBezTo>
                    <a:pt x="0" y="1541399"/>
                    <a:pt x="2794" y="1548130"/>
                    <a:pt x="8382" y="1553718"/>
                  </a:cubicBezTo>
                  <a:cubicBezTo>
                    <a:pt x="13970" y="1559306"/>
                    <a:pt x="20701" y="1562100"/>
                    <a:pt x="28575" y="1562100"/>
                  </a:cubicBezTo>
                  <a:lnTo>
                    <a:pt x="2498725" y="1562100"/>
                  </a:lnTo>
                  <a:cubicBezTo>
                    <a:pt x="2506599" y="1562100"/>
                    <a:pt x="2513330" y="1559306"/>
                    <a:pt x="2518918" y="1553718"/>
                  </a:cubicBezTo>
                  <a:cubicBezTo>
                    <a:pt x="2524506" y="1548130"/>
                    <a:pt x="2527300" y="1541399"/>
                    <a:pt x="2527300" y="1533525"/>
                  </a:cubicBezTo>
                  <a:lnTo>
                    <a:pt x="2527300" y="28575"/>
                  </a:lnTo>
                  <a:cubicBezTo>
                    <a:pt x="2527300" y="20701"/>
                    <a:pt x="2524506" y="13970"/>
                    <a:pt x="2518918" y="8382"/>
                  </a:cubicBezTo>
                  <a:cubicBezTo>
                    <a:pt x="2513330" y="2794"/>
                    <a:pt x="2506599" y="0"/>
                    <a:pt x="2498725" y="0"/>
                  </a:cubicBezTo>
                  <a:close/>
                </a:path>
              </a:pathLst>
            </a:custGeom>
            <a:blipFill>
              <a:blip r:embed="rId2"/>
              <a:stretch>
                <a:fillRect l="-45" t="-26" r="-53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086225" y="3692576"/>
            <a:ext cx="1885950" cy="1171575"/>
            <a:chOff x="0" y="0"/>
            <a:chExt cx="2514600" cy="1562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14600" cy="1562100"/>
            </a:xfrm>
            <a:custGeom>
              <a:avLst/>
              <a:gdLst/>
              <a:ahLst/>
              <a:cxnLst/>
              <a:rect l="l" t="t" r="r" b="b"/>
              <a:pathLst>
                <a:path w="2514600" h="15621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1533525"/>
                  </a:lnTo>
                  <a:cubicBezTo>
                    <a:pt x="0" y="1541399"/>
                    <a:pt x="2794" y="1548130"/>
                    <a:pt x="8382" y="1553718"/>
                  </a:cubicBezTo>
                  <a:cubicBezTo>
                    <a:pt x="13970" y="1559306"/>
                    <a:pt x="20701" y="1562100"/>
                    <a:pt x="28575" y="1562100"/>
                  </a:cubicBezTo>
                  <a:lnTo>
                    <a:pt x="2486025" y="1562100"/>
                  </a:lnTo>
                  <a:cubicBezTo>
                    <a:pt x="2493899" y="1562100"/>
                    <a:pt x="2500630" y="1559306"/>
                    <a:pt x="2506218" y="1553718"/>
                  </a:cubicBezTo>
                  <a:cubicBezTo>
                    <a:pt x="2511806" y="1548130"/>
                    <a:pt x="2514600" y="1541399"/>
                    <a:pt x="2514600" y="1533525"/>
                  </a:cubicBezTo>
                  <a:lnTo>
                    <a:pt x="2514600" y="28575"/>
                  </a:lnTo>
                  <a:cubicBezTo>
                    <a:pt x="2514600" y="20701"/>
                    <a:pt x="2511806" y="13970"/>
                    <a:pt x="2506218" y="8382"/>
                  </a:cubicBezTo>
                  <a:cubicBezTo>
                    <a:pt x="2500630" y="2794"/>
                    <a:pt x="2493899" y="0"/>
                    <a:pt x="2486025" y="0"/>
                  </a:cubicBezTo>
                  <a:close/>
                </a:path>
              </a:pathLst>
            </a:custGeom>
            <a:blipFill>
              <a:blip r:embed="rId3"/>
              <a:stretch>
                <a:fillRect l="-45" t="-26" r="-53" b="-2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562850" y="3692576"/>
            <a:ext cx="1895475" cy="1171575"/>
            <a:chOff x="0" y="0"/>
            <a:chExt cx="2527300" cy="1562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7300" cy="1562100"/>
            </a:xfrm>
            <a:custGeom>
              <a:avLst/>
              <a:gdLst/>
              <a:ahLst/>
              <a:cxnLst/>
              <a:rect l="l" t="t" r="r" b="b"/>
              <a:pathLst>
                <a:path w="2527300" h="15621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1533525"/>
                  </a:lnTo>
                  <a:cubicBezTo>
                    <a:pt x="0" y="1541399"/>
                    <a:pt x="2794" y="1548130"/>
                    <a:pt x="8382" y="1553718"/>
                  </a:cubicBezTo>
                  <a:cubicBezTo>
                    <a:pt x="13970" y="1559306"/>
                    <a:pt x="20701" y="1562100"/>
                    <a:pt x="28575" y="1562100"/>
                  </a:cubicBezTo>
                  <a:lnTo>
                    <a:pt x="2498725" y="1562100"/>
                  </a:lnTo>
                  <a:cubicBezTo>
                    <a:pt x="2506599" y="1562100"/>
                    <a:pt x="2513330" y="1559306"/>
                    <a:pt x="2518918" y="1553718"/>
                  </a:cubicBezTo>
                  <a:cubicBezTo>
                    <a:pt x="2524506" y="1548130"/>
                    <a:pt x="2527300" y="1541399"/>
                    <a:pt x="2527300" y="1533525"/>
                  </a:cubicBezTo>
                  <a:lnTo>
                    <a:pt x="2527300" y="28575"/>
                  </a:lnTo>
                  <a:cubicBezTo>
                    <a:pt x="2527300" y="20701"/>
                    <a:pt x="2524506" y="13970"/>
                    <a:pt x="2518918" y="8382"/>
                  </a:cubicBezTo>
                  <a:cubicBezTo>
                    <a:pt x="2513330" y="2794"/>
                    <a:pt x="2506599" y="0"/>
                    <a:pt x="2498725" y="0"/>
                  </a:cubicBezTo>
                  <a:close/>
                </a:path>
              </a:pathLst>
            </a:custGeom>
            <a:blipFill>
              <a:blip r:embed="rId4"/>
              <a:stretch>
                <a:fillRect l="-45" t="-26" r="-53" b="-2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00075" y="2856728"/>
            <a:ext cx="5027771" cy="56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1" spc="6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Real-World Case Studies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5093922"/>
            <a:ext cx="2513886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Corporate Impersonation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0362" y="5461711"/>
            <a:ext cx="4633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81462" y="5236797"/>
            <a:ext cx="2665733" cy="102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Social Media Scams</a:t>
            </a:r>
          </a:p>
          <a:p>
            <a:pPr algn="l">
              <a:lnSpc>
                <a:spcPts val="675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Fraudulent login pages onfake 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Twitter/Facebook sites harvested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thousands of credentials.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96343" y="5461711"/>
            <a:ext cx="4633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2850" y="5027247"/>
            <a:ext cx="3015205" cy="123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3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Clone Phishing</a:t>
            </a:r>
          </a:p>
          <a:p>
            <a:pPr algn="just">
              <a:lnSpc>
                <a:spcPts val="294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  <a:p>
            <a:pPr algn="just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replacing attachments with malicious versions — familiarity breeds trust.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0075" y="5433136"/>
            <a:ext cx="3288602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 fakePayPal invoice prompted a finance employee to " dispute a charge," leading to credential theft.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62850" y="5461711"/>
            <a:ext cx="2977706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Attackers replicatelegitimate emails,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1556997" cy="9204322"/>
            <a:chOff x="0" y="0"/>
            <a:chExt cx="11557000" cy="92043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9077325"/>
            </a:xfrm>
            <a:custGeom>
              <a:avLst/>
              <a:gdLst/>
              <a:ahLst/>
              <a:cxnLst/>
              <a:rect l="l" t="t" r="r" b="b"/>
              <a:pathLst>
                <a:path w="11430000" h="9077325">
                  <a:moveTo>
                    <a:pt x="0" y="0"/>
                  </a:moveTo>
                  <a:lnTo>
                    <a:pt x="0" y="9077325"/>
                  </a:lnTo>
                  <a:lnTo>
                    <a:pt x="11430000" y="9077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8326" y="68326"/>
              <a:ext cx="11420348" cy="9067800"/>
            </a:xfrm>
            <a:custGeom>
              <a:avLst/>
              <a:gdLst/>
              <a:ahLst/>
              <a:cxnLst/>
              <a:rect l="l" t="t" r="r" b="b"/>
              <a:pathLst>
                <a:path w="11420348" h="9067800">
                  <a:moveTo>
                    <a:pt x="0" y="0"/>
                  </a:moveTo>
                  <a:lnTo>
                    <a:pt x="0" y="9067800"/>
                  </a:lnTo>
                  <a:lnTo>
                    <a:pt x="11420348" y="9067800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110C17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9077325"/>
            </a:xfrm>
            <a:custGeom>
              <a:avLst/>
              <a:gdLst/>
              <a:ahLst/>
              <a:cxnLst/>
              <a:rect l="l" t="t" r="r" b="b"/>
              <a:pathLst>
                <a:path w="11430000" h="9077325">
                  <a:moveTo>
                    <a:pt x="0" y="0"/>
                  </a:moveTo>
                  <a:lnTo>
                    <a:pt x="0" y="9077325"/>
                  </a:lnTo>
                  <a:lnTo>
                    <a:pt x="11430000" y="90773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24163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331069" y="379095"/>
            <a:ext cx="3583431" cy="7588910"/>
            <a:chOff x="0" y="0"/>
            <a:chExt cx="5715000" cy="1210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00" cy="12103100"/>
            </a:xfrm>
            <a:custGeom>
              <a:avLst/>
              <a:gdLst/>
              <a:ahLst/>
              <a:cxnLst/>
              <a:rect l="l" t="t" r="r" b="b"/>
              <a:pathLst>
                <a:path w="5715000" h="12103100">
                  <a:moveTo>
                    <a:pt x="0" y="0"/>
                  </a:moveTo>
                  <a:lnTo>
                    <a:pt x="5715000" y="0"/>
                  </a:lnTo>
                  <a:lnTo>
                    <a:pt x="5715000" y="12103100"/>
                  </a:lnTo>
                  <a:lnTo>
                    <a:pt x="0" y="12103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" r="-3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536572" y="2203447"/>
            <a:ext cx="3013072" cy="3032122"/>
          </a:xfrm>
          <a:custGeom>
            <a:avLst/>
            <a:gdLst/>
            <a:ahLst/>
            <a:cxnLst/>
            <a:rect l="l" t="t" r="r" b="b"/>
            <a:pathLst>
              <a:path w="3013072" h="3032122">
                <a:moveTo>
                  <a:pt x="0" y="0"/>
                </a:moveTo>
                <a:lnTo>
                  <a:pt x="3013072" y="0"/>
                </a:lnTo>
                <a:lnTo>
                  <a:pt x="3013072" y="3032122"/>
                </a:lnTo>
                <a:lnTo>
                  <a:pt x="0" y="3032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36572" y="7270747"/>
            <a:ext cx="6070597" cy="1403347"/>
          </a:xfrm>
          <a:custGeom>
            <a:avLst/>
            <a:gdLst/>
            <a:ahLst/>
            <a:cxnLst/>
            <a:rect l="l" t="t" r="r" b="b"/>
            <a:pathLst>
              <a:path w="6070597" h="1403347">
                <a:moveTo>
                  <a:pt x="0" y="0"/>
                </a:moveTo>
                <a:lnTo>
                  <a:pt x="6070597" y="0"/>
                </a:lnTo>
                <a:lnTo>
                  <a:pt x="6070597" y="1403347"/>
                </a:lnTo>
                <a:lnTo>
                  <a:pt x="0" y="1403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594097" y="2203447"/>
            <a:ext cx="3013072" cy="3032122"/>
          </a:xfrm>
          <a:custGeom>
            <a:avLst/>
            <a:gdLst/>
            <a:ahLst/>
            <a:cxnLst/>
            <a:rect l="l" t="t" r="r" b="b"/>
            <a:pathLst>
              <a:path w="3013072" h="3032122">
                <a:moveTo>
                  <a:pt x="0" y="0"/>
                </a:moveTo>
                <a:lnTo>
                  <a:pt x="3013072" y="0"/>
                </a:lnTo>
                <a:lnTo>
                  <a:pt x="3013072" y="3032122"/>
                </a:lnTo>
                <a:lnTo>
                  <a:pt x="0" y="3032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36572" y="5280022"/>
            <a:ext cx="6070597" cy="1927222"/>
          </a:xfrm>
          <a:custGeom>
            <a:avLst/>
            <a:gdLst/>
            <a:ahLst/>
            <a:cxnLst/>
            <a:rect l="l" t="t" r="r" b="b"/>
            <a:pathLst>
              <a:path w="6070597" h="1927222">
                <a:moveTo>
                  <a:pt x="0" y="0"/>
                </a:moveTo>
                <a:lnTo>
                  <a:pt x="6070597" y="0"/>
                </a:lnTo>
                <a:lnTo>
                  <a:pt x="6070597" y="1927222"/>
                </a:lnTo>
                <a:lnTo>
                  <a:pt x="0" y="1927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00075" y="573853"/>
            <a:ext cx="5902309" cy="150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b="1" spc="6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Interactive Quiz: Spot the Scam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Test your instincts. For each challenge, decide: </a:t>
            </a:r>
            <a:r>
              <a:rPr lang="en-US" sz="1350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legitimate or malicious?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0575" y="3569360"/>
            <a:ext cx="2303231" cy="138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 message from "IT Support" shows sender </a:t>
            </a:r>
          </a:p>
          <a:p>
            <a:pPr algn="l">
              <a:lnSpc>
                <a:spcPts val="2224"/>
              </a:lnSpc>
            </a:pPr>
            <a:r>
              <a:rPr lang="en-US" sz="1350">
                <a:solidFill>
                  <a:srgbClr val="DAD1E6"/>
                </a:solidFill>
                <a:latin typeface="Open Sans"/>
                <a:ea typeface="Open Sans"/>
                <a:cs typeface="Open Sans"/>
                <a:sym typeface="Open Sans"/>
              </a:rPr>
              <a:t>admin@yourcompany-</a:t>
            </a:r>
          </a:p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DAD1E6"/>
                </a:solidFill>
                <a:latin typeface="Open Sans"/>
                <a:ea typeface="Open Sans"/>
                <a:cs typeface="Open Sans"/>
                <a:sym typeface="Open Sans"/>
              </a:rPr>
              <a:t>security.xyz. Spot the 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inconsistency.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4981" y="6049547"/>
            <a:ext cx="109299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0575" y="6388760"/>
            <a:ext cx="5585879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"Your account will be suspended in 2 hours — click here." What do you do?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48100" y="3569360"/>
            <a:ext cx="2563568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 "Reset Password" button hides bit.ly/3xK9mP. What's the risk?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7116" y="7531760"/>
            <a:ext cx="5313407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Answers:</a:t>
            </a:r>
            <a:r>
              <a:rPr lang="en-US" sz="135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1 — Domain doesn't match company. 2 — Shortened URLs hide destinations. 3 — Navigate directly to the official site; never click unsolicited links.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91611" y="2417054"/>
            <a:ext cx="104927" cy="26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 b="1" spc="29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20373" y="5493629"/>
            <a:ext cx="104927" cy="26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 b="1" spc="29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9136" y="2417054"/>
            <a:ext cx="104927" cy="26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 b="1" spc="29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0575" y="3001547"/>
            <a:ext cx="2076841" cy="51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Challenge 1: Email Header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0575" y="6049547"/>
            <a:ext cx="2951083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Challenge</a:t>
            </a:r>
            <a:r>
              <a:rPr lang="en-US" sz="1687" b="1" spc="30">
                <a:solidFill>
                  <a:srgbClr val="FFFFF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3:</a:t>
            </a:r>
            <a:r>
              <a:rPr lang="en-US" sz="1687" b="1" spc="30">
                <a:solidFill>
                  <a:srgbClr val="FFFFF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Urgent</a:t>
            </a:r>
            <a:r>
              <a:rPr lang="en-US" sz="1687" b="1" spc="30">
                <a:solidFill>
                  <a:srgbClr val="FFFFF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Request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48100" y="3001547"/>
            <a:ext cx="1967541" cy="51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Challenge 2: Link 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5184" y="3156814"/>
            <a:ext cx="5698682" cy="3228975"/>
            <a:chOff x="0" y="0"/>
            <a:chExt cx="8674100" cy="4914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74100" cy="4914900"/>
            </a:xfrm>
            <a:custGeom>
              <a:avLst/>
              <a:gdLst/>
              <a:ahLst/>
              <a:cxnLst/>
              <a:rect l="l" t="t" r="r" b="b"/>
              <a:pathLst>
                <a:path w="8674100" h="49149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4886325"/>
                  </a:lnTo>
                  <a:cubicBezTo>
                    <a:pt x="0" y="4894199"/>
                    <a:pt x="2794" y="4900930"/>
                    <a:pt x="8382" y="4906518"/>
                  </a:cubicBezTo>
                  <a:cubicBezTo>
                    <a:pt x="13970" y="4912106"/>
                    <a:pt x="20447" y="4914773"/>
                    <a:pt x="28194" y="4914900"/>
                  </a:cubicBezTo>
                  <a:lnTo>
                    <a:pt x="8645906" y="4914900"/>
                  </a:lnTo>
                  <a:cubicBezTo>
                    <a:pt x="8653653" y="4914773"/>
                    <a:pt x="8660257" y="4911979"/>
                    <a:pt x="8665718" y="4906518"/>
                  </a:cubicBezTo>
                  <a:cubicBezTo>
                    <a:pt x="8671179" y="4901057"/>
                    <a:pt x="8674100" y="4894199"/>
                    <a:pt x="8674100" y="4886325"/>
                  </a:cubicBezTo>
                  <a:lnTo>
                    <a:pt x="8674100" y="28575"/>
                  </a:lnTo>
                  <a:cubicBezTo>
                    <a:pt x="8674100" y="20701"/>
                    <a:pt x="8671306" y="13970"/>
                    <a:pt x="8665718" y="8382"/>
                  </a:cubicBezTo>
                  <a:cubicBezTo>
                    <a:pt x="8660130" y="2794"/>
                    <a:pt x="8653399" y="0"/>
                    <a:pt x="86455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534275" y="2616403"/>
            <a:ext cx="381000" cy="381000"/>
            <a:chOff x="0" y="0"/>
            <a:chExt cx="381000" cy="381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595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59537" y="0"/>
                  </a:lnTo>
                  <a:cubicBezTo>
                    <a:pt x="362331" y="0"/>
                    <a:pt x="365125" y="508"/>
                    <a:pt x="367792" y="1651"/>
                  </a:cubicBezTo>
                  <a:cubicBezTo>
                    <a:pt x="370459" y="2794"/>
                    <a:pt x="372745" y="4318"/>
                    <a:pt x="374777" y="6223"/>
                  </a:cubicBezTo>
                  <a:cubicBezTo>
                    <a:pt x="376809" y="8128"/>
                    <a:pt x="378333" y="10541"/>
                    <a:pt x="379349" y="13208"/>
                  </a:cubicBezTo>
                  <a:cubicBezTo>
                    <a:pt x="380365" y="15875"/>
                    <a:pt x="381000" y="18542"/>
                    <a:pt x="381000" y="21463"/>
                  </a:cubicBezTo>
                  <a:lnTo>
                    <a:pt x="381000" y="359537"/>
                  </a:lnTo>
                  <a:cubicBezTo>
                    <a:pt x="381000" y="362331"/>
                    <a:pt x="380492" y="365125"/>
                    <a:pt x="379349" y="367792"/>
                  </a:cubicBezTo>
                  <a:cubicBezTo>
                    <a:pt x="378206" y="370459"/>
                    <a:pt x="376682" y="372745"/>
                    <a:pt x="374777" y="374777"/>
                  </a:cubicBezTo>
                  <a:cubicBezTo>
                    <a:pt x="372872" y="376809"/>
                    <a:pt x="370459" y="378333"/>
                    <a:pt x="367792" y="379349"/>
                  </a:cubicBezTo>
                  <a:cubicBezTo>
                    <a:pt x="365125" y="380365"/>
                    <a:pt x="362458" y="381000"/>
                    <a:pt x="359537" y="381000"/>
                  </a:cubicBezTo>
                  <a:lnTo>
                    <a:pt x="21463" y="381000"/>
                  </a:lnTo>
                  <a:cubicBezTo>
                    <a:pt x="18669" y="381000"/>
                    <a:pt x="15875" y="380492"/>
                    <a:pt x="13208" y="379349"/>
                  </a:cubicBezTo>
                  <a:cubicBezTo>
                    <a:pt x="10541" y="378206"/>
                    <a:pt x="8255" y="376682"/>
                    <a:pt x="6223" y="374777"/>
                  </a:cubicBezTo>
                  <a:cubicBezTo>
                    <a:pt x="4191" y="372872"/>
                    <a:pt x="2667" y="370459"/>
                    <a:pt x="1651" y="367792"/>
                  </a:cubicBezTo>
                  <a:cubicBezTo>
                    <a:pt x="635" y="365125"/>
                    <a:pt x="0" y="362458"/>
                    <a:pt x="0" y="359537"/>
                  </a:cubicBezTo>
                </a:path>
              </a:pathLst>
            </a:custGeom>
            <a:solidFill>
              <a:srgbClr val="43355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34275" y="4273753"/>
            <a:ext cx="381000" cy="390525"/>
            <a:chOff x="0" y="0"/>
            <a:chExt cx="381000" cy="3905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000" cy="390525"/>
            </a:xfrm>
            <a:custGeom>
              <a:avLst/>
              <a:gdLst/>
              <a:ahLst/>
              <a:cxnLst/>
              <a:rect l="l" t="t" r="r" b="b"/>
              <a:pathLst>
                <a:path w="381000" h="390525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59537" y="0"/>
                  </a:lnTo>
                  <a:cubicBezTo>
                    <a:pt x="362331" y="0"/>
                    <a:pt x="365125" y="508"/>
                    <a:pt x="367792" y="1651"/>
                  </a:cubicBezTo>
                  <a:cubicBezTo>
                    <a:pt x="370459" y="2794"/>
                    <a:pt x="372745" y="4318"/>
                    <a:pt x="374777" y="6223"/>
                  </a:cubicBezTo>
                  <a:cubicBezTo>
                    <a:pt x="376809" y="8128"/>
                    <a:pt x="378333" y="10541"/>
                    <a:pt x="379349" y="13208"/>
                  </a:cubicBezTo>
                  <a:cubicBezTo>
                    <a:pt x="380365" y="15875"/>
                    <a:pt x="381000" y="18542"/>
                    <a:pt x="381000" y="21463"/>
                  </a:cubicBezTo>
                  <a:lnTo>
                    <a:pt x="381000" y="369062"/>
                  </a:lnTo>
                  <a:cubicBezTo>
                    <a:pt x="381000" y="371856"/>
                    <a:pt x="380492" y="374650"/>
                    <a:pt x="379349" y="377317"/>
                  </a:cubicBezTo>
                  <a:cubicBezTo>
                    <a:pt x="378206" y="379984"/>
                    <a:pt x="376682" y="382270"/>
                    <a:pt x="374777" y="384302"/>
                  </a:cubicBezTo>
                  <a:cubicBezTo>
                    <a:pt x="372872" y="386334"/>
                    <a:pt x="370459" y="387858"/>
                    <a:pt x="367792" y="388874"/>
                  </a:cubicBezTo>
                  <a:cubicBezTo>
                    <a:pt x="365125" y="389890"/>
                    <a:pt x="362458" y="390525"/>
                    <a:pt x="359537" y="390525"/>
                  </a:cubicBezTo>
                  <a:lnTo>
                    <a:pt x="21463" y="390525"/>
                  </a:lnTo>
                  <a:cubicBezTo>
                    <a:pt x="18669" y="390525"/>
                    <a:pt x="15875" y="390017"/>
                    <a:pt x="13208" y="388874"/>
                  </a:cubicBezTo>
                  <a:cubicBezTo>
                    <a:pt x="10541" y="387731"/>
                    <a:pt x="8255" y="386207"/>
                    <a:pt x="6223" y="384302"/>
                  </a:cubicBezTo>
                  <a:cubicBezTo>
                    <a:pt x="4191" y="382397"/>
                    <a:pt x="2667" y="379984"/>
                    <a:pt x="1651" y="377317"/>
                  </a:cubicBezTo>
                  <a:cubicBezTo>
                    <a:pt x="635" y="374650"/>
                    <a:pt x="0" y="371983"/>
                    <a:pt x="0" y="369062"/>
                  </a:cubicBezTo>
                </a:path>
              </a:pathLst>
            </a:custGeom>
            <a:solidFill>
              <a:srgbClr val="43355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534275" y="5940628"/>
            <a:ext cx="381000" cy="381000"/>
            <a:chOff x="0" y="0"/>
            <a:chExt cx="381000" cy="38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595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335"/>
                  </a:cubicBezTo>
                  <a:cubicBezTo>
                    <a:pt x="2794" y="10795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59537" y="0"/>
                  </a:lnTo>
                  <a:cubicBezTo>
                    <a:pt x="362331" y="0"/>
                    <a:pt x="365125" y="508"/>
                    <a:pt x="367792" y="1651"/>
                  </a:cubicBezTo>
                  <a:cubicBezTo>
                    <a:pt x="370459" y="2794"/>
                    <a:pt x="372745" y="4318"/>
                    <a:pt x="374777" y="6223"/>
                  </a:cubicBezTo>
                  <a:cubicBezTo>
                    <a:pt x="376809" y="8128"/>
                    <a:pt x="378333" y="10541"/>
                    <a:pt x="379349" y="13208"/>
                  </a:cubicBezTo>
                  <a:cubicBezTo>
                    <a:pt x="380365" y="15875"/>
                    <a:pt x="381000" y="18542"/>
                    <a:pt x="381000" y="21336"/>
                  </a:cubicBezTo>
                  <a:lnTo>
                    <a:pt x="381000" y="359537"/>
                  </a:lnTo>
                  <a:cubicBezTo>
                    <a:pt x="381000" y="362331"/>
                    <a:pt x="380492" y="365125"/>
                    <a:pt x="379349" y="367792"/>
                  </a:cubicBezTo>
                  <a:cubicBezTo>
                    <a:pt x="378206" y="370459"/>
                    <a:pt x="376682" y="372745"/>
                    <a:pt x="374777" y="374777"/>
                  </a:cubicBezTo>
                  <a:cubicBezTo>
                    <a:pt x="372872" y="376809"/>
                    <a:pt x="370459" y="378333"/>
                    <a:pt x="367792" y="379349"/>
                  </a:cubicBezTo>
                  <a:cubicBezTo>
                    <a:pt x="365125" y="380365"/>
                    <a:pt x="362458" y="381000"/>
                    <a:pt x="359537" y="381000"/>
                  </a:cubicBezTo>
                  <a:lnTo>
                    <a:pt x="21463" y="381000"/>
                  </a:lnTo>
                  <a:cubicBezTo>
                    <a:pt x="18669" y="381000"/>
                    <a:pt x="15875" y="380492"/>
                    <a:pt x="13208" y="379349"/>
                  </a:cubicBezTo>
                  <a:cubicBezTo>
                    <a:pt x="10541" y="378206"/>
                    <a:pt x="8255" y="376682"/>
                    <a:pt x="6223" y="374777"/>
                  </a:cubicBezTo>
                  <a:cubicBezTo>
                    <a:pt x="4191" y="372872"/>
                    <a:pt x="2667" y="370459"/>
                    <a:pt x="1651" y="367792"/>
                  </a:cubicBezTo>
                  <a:cubicBezTo>
                    <a:pt x="635" y="365125"/>
                    <a:pt x="0" y="362458"/>
                    <a:pt x="0" y="359537"/>
                  </a:cubicBezTo>
                </a:path>
              </a:pathLst>
            </a:custGeom>
            <a:solidFill>
              <a:srgbClr val="433550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600075" y="1666256"/>
            <a:ext cx="8306753" cy="56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1" spc="6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Best Practices: Your Defensive Toolkit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30853" y="2693775"/>
            <a:ext cx="109299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87916" y="2693775"/>
            <a:ext cx="1311592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Verify</a:t>
            </a:r>
            <a:r>
              <a:rPr lang="en-US" sz="1687" b="1" spc="3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First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7916" y="6018000"/>
            <a:ext cx="1639491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Digital Hygiene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2598" y="6452464"/>
            <a:ext cx="4633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87916" y="4351125"/>
            <a:ext cx="1748790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Technical Layers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75221" y="4795114"/>
            <a:ext cx="4633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87916" y="4795114"/>
            <a:ext cx="2642826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Keepbrowsers, OS,and antivirus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87916" y="5033239"/>
            <a:ext cx="2340388" cy="53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updated. Enable </a:t>
            </a:r>
            <a:r>
              <a:rPr lang="en-US" sz="1350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multi-factor authentication</a:t>
            </a: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everywhere.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87916" y="3099664"/>
            <a:ext cx="2779128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Contact organizations through </a:t>
            </a:r>
            <a:r>
              <a:rPr lang="en-US" sz="1350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official channels</a:t>
            </a: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— never use links provided in suspicious messages.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87916" y="6452464"/>
            <a:ext cx="2806770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Treat unexpectedattachments and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87916" y="6700114"/>
            <a:ext cx="2709158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pop-ups as suspicious by default. When in doubt, delete.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4038648"/>
            <a:ext cx="3422647" cy="2346322"/>
          </a:xfrm>
          <a:custGeom>
            <a:avLst/>
            <a:gdLst/>
            <a:ahLst/>
            <a:cxnLst/>
            <a:rect l="l" t="t" r="r" b="b"/>
            <a:pathLst>
              <a:path w="3422647" h="2346322">
                <a:moveTo>
                  <a:pt x="0" y="0"/>
                </a:moveTo>
                <a:lnTo>
                  <a:pt x="3422647" y="0"/>
                </a:lnTo>
                <a:lnTo>
                  <a:pt x="3422647" y="2346321"/>
                </a:lnTo>
                <a:lnTo>
                  <a:pt x="0" y="2346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003672" y="4038648"/>
            <a:ext cx="3422647" cy="2346322"/>
          </a:xfrm>
          <a:custGeom>
            <a:avLst/>
            <a:gdLst/>
            <a:ahLst/>
            <a:cxnLst/>
            <a:rect l="l" t="t" r="r" b="b"/>
            <a:pathLst>
              <a:path w="3422647" h="2346322">
                <a:moveTo>
                  <a:pt x="0" y="0"/>
                </a:moveTo>
                <a:lnTo>
                  <a:pt x="3422647" y="0"/>
                </a:lnTo>
                <a:lnTo>
                  <a:pt x="3422647" y="2346321"/>
                </a:lnTo>
                <a:lnTo>
                  <a:pt x="0" y="2346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70772" y="4038648"/>
            <a:ext cx="3422647" cy="2346322"/>
          </a:xfrm>
          <a:custGeom>
            <a:avLst/>
            <a:gdLst/>
            <a:ahLst/>
            <a:cxnLst/>
            <a:rect l="l" t="t" r="r" b="b"/>
            <a:pathLst>
              <a:path w="3422647" h="2346322">
                <a:moveTo>
                  <a:pt x="0" y="0"/>
                </a:moveTo>
                <a:lnTo>
                  <a:pt x="3422647" y="0"/>
                </a:lnTo>
                <a:lnTo>
                  <a:pt x="3422647" y="2346321"/>
                </a:lnTo>
                <a:lnTo>
                  <a:pt x="0" y="2346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0075" y="2799578"/>
            <a:ext cx="6776571" cy="111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1" spc="6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Building a Culture of Vigilance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Security is a team sport. Empower everyone to become a </a:t>
            </a:r>
            <a:r>
              <a:rPr lang="en-US" sz="1350" b="1">
                <a:solidFill>
                  <a:srgbClr val="F94CA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human firewall</a:t>
            </a: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1525" y="5319008"/>
            <a:ext cx="3030369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Alert your IT department immediately when you spot suspicious activity.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38625" y="5319008"/>
            <a:ext cx="2906192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Move from potential victim to active protector. Share what you learn.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05725" y="5319008"/>
            <a:ext cx="3038561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Before every click: verify sender, inspect links, question urgency, check URLs, trust your instincts.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525" y="4979622"/>
            <a:ext cx="983694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Report It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38625" y="4979622"/>
            <a:ext cx="655796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Own 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05725" y="4979622"/>
            <a:ext cx="874395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Check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28614" y="3048048"/>
            <a:ext cx="146047" cy="1060447"/>
          </a:xfrm>
          <a:custGeom>
            <a:avLst/>
            <a:gdLst/>
            <a:ahLst/>
            <a:cxnLst/>
            <a:rect l="l" t="t" r="r" b="b"/>
            <a:pathLst>
              <a:path w="146047" h="1060447">
                <a:moveTo>
                  <a:pt x="0" y="0"/>
                </a:moveTo>
                <a:lnTo>
                  <a:pt x="146046" y="0"/>
                </a:lnTo>
                <a:lnTo>
                  <a:pt x="146046" y="1060446"/>
                </a:lnTo>
                <a:lnTo>
                  <a:pt x="0" y="10604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28614" y="4108494"/>
            <a:ext cx="6070597" cy="2651122"/>
          </a:xfrm>
          <a:custGeom>
            <a:avLst/>
            <a:gdLst/>
            <a:ahLst/>
            <a:cxnLst/>
            <a:rect l="l" t="t" r="r" b="b"/>
            <a:pathLst>
              <a:path w="6070597" h="2651122">
                <a:moveTo>
                  <a:pt x="0" y="0"/>
                </a:moveTo>
                <a:lnTo>
                  <a:pt x="6070596" y="0"/>
                </a:lnTo>
                <a:lnTo>
                  <a:pt x="6070596" y="2651122"/>
                </a:lnTo>
                <a:lnTo>
                  <a:pt x="0" y="2651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29980" y="2229869"/>
            <a:ext cx="4153376" cy="56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1" spc="60">
                <a:solidFill>
                  <a:srgbClr val="F94CA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Stay One Step Ahead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86509" y="3318586"/>
            <a:ext cx="4633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62848" y="4663516"/>
            <a:ext cx="2608659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Urgency, fear, and familiarity are attacker tools — pause before reacting.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82088" y="6254317"/>
            <a:ext cx="5178838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Report, educate, and protect. Your vigilance safeguards everyone.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34780" y="4663516"/>
            <a:ext cx="2363343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Adopt the </a:t>
            </a:r>
            <a:r>
              <a:rPr lang="en-US" sz="1350" b="1">
                <a:solidFill>
                  <a:srgbClr val="DAD1E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Verify First</a:t>
            </a: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 rule for every unsolicited request.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74084" y="3215716"/>
            <a:ext cx="5752557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New threatsevolveconstantly,butthe corepsychological tactics remain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83187" y="3549696"/>
            <a:ext cx="3734352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AD1E6"/>
                </a:solidFill>
                <a:latin typeface="Fira Sans"/>
                <a:ea typeface="Fira Sans"/>
                <a:cs typeface="Fira Sans"/>
                <a:sym typeface="Fira Sans"/>
              </a:rPr>
              <a:t>the same. Awareness is your strongest defense.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62848" y="5824254"/>
            <a:ext cx="327898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55585" y="4262028"/>
            <a:ext cx="874395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Remember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34780" y="4295195"/>
            <a:ext cx="655796" cy="27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 spc="30">
                <a:solidFill>
                  <a:srgbClr val="DAD1E6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Commit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The-Phishing-Trap-Dont-Take-the-Bait.pdf</dc:title>
  <cp:lastModifiedBy>Yashwanth Avinash K</cp:lastModifiedBy>
  <cp:revision>2</cp:revision>
  <dcterms:created xsi:type="dcterms:W3CDTF">2006-08-16T00:00:00Z</dcterms:created>
  <dcterms:modified xsi:type="dcterms:W3CDTF">2026-06-04T07:21:05Z</dcterms:modified>
  <dc:identifier>DAHLl3m0mGo</dc:identifier>
</cp:coreProperties>
</file>